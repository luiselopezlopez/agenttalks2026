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2"/>
  </p:notesMasterIdLst>
  <p:sldIdLst>
    <p:sldId id="256" r:id="rId5"/>
    <p:sldId id="260" r:id="rId6"/>
    <p:sldId id="261" r:id="rId7"/>
    <p:sldId id="262" r:id="rId8"/>
    <p:sldId id="265" r:id="rId9"/>
    <p:sldId id="278" r:id="rId10"/>
    <p:sldId id="277" r:id="rId11"/>
    <p:sldId id="281" r:id="rId12"/>
    <p:sldId id="276" r:id="rId13"/>
    <p:sldId id="279" r:id="rId14"/>
    <p:sldId id="269" r:id="rId15"/>
    <p:sldId id="272" r:id="rId16"/>
    <p:sldId id="282" r:id="rId17"/>
    <p:sldId id="283" r:id="rId18"/>
    <p:sldId id="280" r:id="rId19"/>
    <p:sldId id="284" r:id="rId20"/>
    <p:sldId id="273" r:id="rId21"/>
    <p:sldId id="274" r:id="rId22"/>
    <p:sldId id="258" r:id="rId23"/>
    <p:sldId id="259" r:id="rId24"/>
    <p:sldId id="263" r:id="rId25"/>
    <p:sldId id="264" r:id="rId26"/>
    <p:sldId id="266" r:id="rId27"/>
    <p:sldId id="267" r:id="rId28"/>
    <p:sldId id="268" r:id="rId29"/>
    <p:sldId id="270" r:id="rId30"/>
    <p:sldId id="271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7936"/>
    <a:srgbClr val="160D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A51DA1-BED4-ACA9-F971-F3ADA4258F42}" v="2" dt="2026-04-13T11:59:03.529"/>
    <p1510:client id="{29DC2934-F524-4428-97D0-DB5171ED6551}" v="4" dt="2026-04-11T13:50:19.265"/>
    <p1510:client id="{7EC9D390-E05B-033A-D857-F70EBEB4D536}" v="1" dt="2026-04-13T11:59:27.9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2978" autoAdjust="0"/>
  </p:normalViewPr>
  <p:slideViewPr>
    <p:cSldViewPr snapToGrid="0" snapToObjects="1">
      <p:cViewPr>
        <p:scale>
          <a:sx n="100" d="100"/>
          <a:sy n="100" d="100"/>
        </p:scale>
        <p:origin x="1914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17B878-1063-4607-93E0-FA9810CAFCF4}" type="datetimeFigureOut">
              <a:t>14/05/2026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5BBFD8-5AE2-47E6-BCD0-431B889C801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142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Ramon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93986-D533-8AD0-0AF1-3B599BFEB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0BE198-985D-6622-98B4-C1CA6044AA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4087D3-6D79-1422-B01E-90330275AB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9675D-314C-00F2-E45A-8D3A8A5B34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829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E58D0-4CB4-4C04-254C-A4B3DBB66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8C1DA3-5B04-0395-55B1-507047EF3C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D2F2DF-2BDE-706E-0B79-6509FC5F0D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Ramon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FA778-2BE5-F66A-83F4-C7EE0D1EB6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4307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F749D-7FA8-FD06-8367-B3A26D3DE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EE7148-6D80-6067-755E-A895009EC5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208F43-EB24-78E9-26FB-CB7250574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C2CBA-B049-8EE3-EA04-F70A980626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18369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DADF9-CC16-FDCB-7521-E721EBEB0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00C040-C638-317F-49E7-18840402DD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848294-AFAC-923D-29B3-E68972C81F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C9968-D9C6-19B7-08E1-8282BBF66A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3184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CFC84-8383-0F3C-EA1B-BB709C665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7B24B7-B7F5-7C79-EE5F-E176B4C52B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95C123-77DF-7838-B76F-704B86138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17E04-A1E0-1599-5278-505C12A38A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5495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53EBF-7D5E-2179-C854-FCB7C8DA6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73CEA4-A1B8-89F2-E922-C5F787ECFB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82F519-DB37-FBF8-88F6-7F3459DB78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33B5D-93EC-694A-A4F3-585CAF2E8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00960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B4C5B-E8A1-88EB-D203-C25985E8D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666EF1-3DEF-E203-7C8F-87A3D03AB1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ED779C-D21E-2875-BC3A-BDBCBED8A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379B0-F230-0837-5BF8-8BBBC900C5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0446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0B946-3BF9-16CA-88E5-8636E8797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916231-1180-FCA0-7FFD-5E8F60A54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AA8406-16F0-63DF-5146-C4EADD11E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Ramon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EE03F-CF47-F8F0-3D08-88E77B690C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3283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88668-53E8-59B4-DCD0-D122425DF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D56EDE-C24D-D8B8-21CD-840BB24C6A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2D916A-47C4-475C-25D1-5F013095D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951F9-53AA-D4B3-C6FB-167BF7A345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553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i.plainenglish.io/building-production-voice-agents-the-complete-guide-to-microsoft-foundry-and-azure-speech-6fe07169b798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xiv.org/html/2512.04123v1" TargetMode="External"/><Relationship Id="rId5" Type="http://schemas.openxmlformats.org/officeDocument/2006/relationships/hyperlink" Target="https://learn.microsoft.com/en-us/azure/ai-services/speech-service/how-to-voice-agent-integration" TargetMode="Externa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9144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</a:t>
            </a:r>
            <a:r>
              <a:rPr lang="es-ES" sz="36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Copilots</a:t>
            </a:r>
            <a:r>
              <a:rPr lang="es-E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 Humanos Digitales</a:t>
            </a:r>
          </a:p>
        </p:txBody>
      </p:sp>
      <p:sp>
        <p:nvSpPr>
          <p:cNvPr id="4" name="Text 1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7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con Voz y Avatar en Producción con Azure AI </a:t>
            </a:r>
            <a:r>
              <a:rPr lang="es-ES" sz="1700" dirty="0" err="1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</a:t>
            </a:r>
            <a:endParaRPr lang="es-ES" sz="1700" dirty="0">
              <a:solidFill>
                <a:srgbClr val="00D4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 the Speakers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3200400"/>
          </a:xfrm>
          <a:prstGeom prst="rect">
            <a:avLst/>
          </a:prstGeom>
          <a:solidFill>
            <a:srgbClr val="160D40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45720"/>
          </a:xfrm>
          <a:prstGeom prst="rect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141732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Speaker One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B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/ Company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bio and expertise of the first speaker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37560" y="1188720"/>
            <a:ext cx="2651760" cy="3200400"/>
          </a:xfrm>
          <a:prstGeom prst="rect">
            <a:avLst/>
          </a:prstGeom>
          <a:solidFill>
            <a:srgbClr val="160D40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3337560" y="1188720"/>
            <a:ext cx="2651760" cy="4572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1417320"/>
            <a:ext cx="1371600" cy="1371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Speaker Two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52044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/ Company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2044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bio and expertise of the second speaker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17920" y="1188720"/>
            <a:ext cx="2651760" cy="3200400"/>
          </a:xfrm>
          <a:prstGeom prst="rect">
            <a:avLst/>
          </a:prstGeom>
          <a:solidFill>
            <a:srgbClr val="160D40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3"/>
          <p:cNvSpPr/>
          <p:nvPr/>
        </p:nvSpPr>
        <p:spPr>
          <a:xfrm>
            <a:off x="6217920" y="1188720"/>
            <a:ext cx="2651760" cy="45720"/>
          </a:xfrm>
          <a:prstGeom prst="rect">
            <a:avLst/>
          </a:prstGeom>
          <a:solidFill>
            <a:srgbClr val="FF2D7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417320"/>
            <a:ext cx="1371600" cy="1371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080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Speaker Three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0080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/ Company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40080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bio and expertise of the third speaker</a:t>
            </a:r>
            <a:endParaRPr lang="en-US" sz="12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438912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822960" y="1161288"/>
            <a:ext cx="365760" cy="365760"/>
          </a:xfrm>
          <a:prstGeom prst="ellipse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22960" y="1161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114300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417320" y="1600200"/>
            <a:ext cx="3657600" cy="0"/>
          </a:xfrm>
          <a:prstGeom prst="line">
            <a:avLst/>
          </a:prstGeom>
          <a:noFill/>
          <a:ln w="6350">
            <a:solidFill>
              <a:srgbClr val="4A15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822960" y="1691640"/>
            <a:ext cx="365760" cy="365760"/>
          </a:xfrm>
          <a:prstGeom prst="ellipse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2296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16733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417320" y="2130552"/>
            <a:ext cx="3657600" cy="0"/>
          </a:xfrm>
          <a:prstGeom prst="line">
            <a:avLst/>
          </a:prstGeom>
          <a:noFill/>
          <a:ln w="6350">
            <a:solidFill>
              <a:srgbClr val="4A15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822960" y="2221992"/>
            <a:ext cx="365760" cy="365760"/>
          </a:xfrm>
          <a:prstGeom prst="ellipse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822960" y="2221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2203704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417320" y="2660904"/>
            <a:ext cx="3657600" cy="0"/>
          </a:xfrm>
          <a:prstGeom prst="line">
            <a:avLst/>
          </a:prstGeom>
          <a:noFill/>
          <a:ln w="6350">
            <a:solidFill>
              <a:srgbClr val="4A15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822960" y="2752344"/>
            <a:ext cx="365760" cy="365760"/>
          </a:xfrm>
          <a:prstGeom prst="ellipse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822960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2734056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Aprendidas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417320" y="3191256"/>
            <a:ext cx="3657600" cy="0"/>
          </a:xfrm>
          <a:prstGeom prst="line">
            <a:avLst/>
          </a:prstGeom>
          <a:noFill/>
          <a:ln w="6350">
            <a:solidFill>
              <a:srgbClr val="4A15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822960" y="3282696"/>
            <a:ext cx="365760" cy="365760"/>
          </a:xfrm>
          <a:prstGeom prst="ellipse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82296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3264408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417320" y="3721608"/>
            <a:ext cx="3657600" cy="0"/>
          </a:xfrm>
          <a:prstGeom prst="line">
            <a:avLst/>
          </a:prstGeom>
          <a:noFill/>
          <a:ln w="6350">
            <a:solidFill>
              <a:srgbClr val="4A15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822960" y="3813048"/>
            <a:ext cx="365760" cy="365760"/>
          </a:xfrm>
          <a:prstGeom prst="ellipse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822960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17320" y="379476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Siguientes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pasos y </a:t>
            </a:r>
            <a:r>
              <a:rPr lang="en-US" sz="17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7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4">
            <a:alphaModFix amt="22000"/>
          </a:blip>
          <a:stretch>
            <a:fillRect/>
          </a:stretch>
        </p:blipFill>
        <p:spPr>
          <a:xfrm>
            <a:off x="5943600" y="1097280"/>
            <a:ext cx="3017520" cy="3017520"/>
          </a:xfrm>
          <a:prstGeom prst="rect">
            <a:avLst/>
          </a:prstGeom>
        </p:spPr>
      </p:pic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38912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>
            <a:alphaModFix amt="28000"/>
          </a:blip>
          <a:stretch>
            <a:fillRect/>
          </a:stretch>
        </p:blipFill>
        <p:spPr>
          <a:xfrm>
            <a:off x="5303520" y="548640"/>
            <a:ext cx="3840480" cy="3840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" y="1828800"/>
            <a:ext cx="914400" cy="45720"/>
          </a:xfrm>
          <a:prstGeom prst="rect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731520" y="2468880"/>
            <a:ext cx="48120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Introduccion</a:t>
            </a: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 </a:t>
            </a:r>
            <a:r>
              <a:rPr lang="en-US" sz="4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</a:t>
            </a: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‘Humanos </a:t>
            </a:r>
            <a:r>
              <a:rPr lang="en-US" sz="4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Digitales</a:t>
            </a: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’</a:t>
            </a:r>
            <a:endParaRPr lang="en-US" sz="4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38912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Interfaz de la IA Está Cambiando</a:t>
            </a: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383280"/>
          </a:xfrm>
          <a:prstGeom prst="rect">
            <a:avLst/>
          </a:prstGeom>
          <a:solidFill>
            <a:srgbClr val="1E1050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45720"/>
          </a:xfrm>
          <a:prstGeom prst="rect">
            <a:avLst/>
          </a:prstGeom>
          <a:solidFill>
            <a:srgbClr val="FF2D7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937760" y="229281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5166" marR="0" lvl="0" indent="-175166" algn="l" defTabSz="457200" rtl="0" eaLnBrk="1" fontAlgn="auto" latinLnBrk="0" hangingPunct="1">
              <a:lnSpc>
                <a:spcPts val="2203"/>
              </a:lnSpc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Raleway"/>
                <a:ea typeface="+mn-ea"/>
                <a:cs typeface="+mn-cs"/>
              </a:rPr>
              <a:t>Cada generación reduce la fricción entre usuario y tecnología: de comandos que requieren </a:t>
            </a:r>
            <a:r>
              <a:rPr kumimoji="0" lang="es-E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Raleway"/>
                <a:ea typeface="+mn-ea"/>
                <a:cs typeface="+mn-cs"/>
              </a:rPr>
              <a:t>expertise</a:t>
            </a: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Raleway"/>
                <a:ea typeface="+mn-ea"/>
                <a:cs typeface="+mn-cs"/>
              </a:rPr>
              <a:t> técnico a interfaces que entienden lenguaje natural y contexto humano</a:t>
            </a:r>
          </a:p>
          <a:p>
            <a:pPr marL="175166" marR="0" lvl="0" indent="-175166" algn="l" defTabSz="457200" rtl="0" eaLnBrk="1" fontAlgn="auto" latinLnBrk="0" hangingPunct="1">
              <a:lnSpc>
                <a:spcPts val="2203"/>
              </a:lnSpc>
              <a:spcBef>
                <a:spcPts val="959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Raleway"/>
                <a:ea typeface="+mn-ea"/>
                <a:cs typeface="+mn-cs"/>
              </a:rPr>
              <a:t>Los humanos digitales representan el salto hacia experiencias verdaderamente intuitivas: usuarios interactúan mediante voz y gestos como lo harían con otra persona, sin curva de aprendizaje</a:t>
            </a:r>
          </a:p>
          <a:p>
            <a:pPr marL="175166" marR="0" lvl="0" indent="-175166" algn="l" defTabSz="457200" rtl="0" eaLnBrk="1" fontAlgn="auto" latinLnBrk="0" hangingPunct="1">
              <a:lnSpc>
                <a:spcPts val="2203"/>
              </a:lnSpc>
              <a:spcBef>
                <a:spcPts val="959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Raleway"/>
                <a:ea typeface="+mn-ea"/>
                <a:cs typeface="+mn-cs"/>
              </a:rPr>
              <a:t>Esta evolución abre nuevos casos de uso en atención al cliente, formación y soporte donde la naturalidad de la interacción determina el éxito de la adopción</a:t>
            </a: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389120"/>
            <a:ext cx="548640" cy="54864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183538CE-A917-FFB8-DE76-80CACB6C2728}"/>
              </a:ext>
            </a:extLst>
          </p:cNvPr>
          <p:cNvSpPr/>
          <p:nvPr/>
        </p:nvSpPr>
        <p:spPr>
          <a:xfrm>
            <a:off x="559526" y="1384483"/>
            <a:ext cx="152400" cy="152400"/>
          </a:xfrm>
          <a:prstGeom prst="ellipse">
            <a:avLst/>
          </a:prstGeom>
          <a:solidFill>
            <a:srgbClr val="E48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266732-7D15-5210-884D-15EF13BBA899}"/>
              </a:ext>
            </a:extLst>
          </p:cNvPr>
          <p:cNvSpPr/>
          <p:nvPr/>
        </p:nvSpPr>
        <p:spPr>
          <a:xfrm>
            <a:off x="627986" y="1506522"/>
            <a:ext cx="19050" cy="714523"/>
          </a:xfrm>
          <a:prstGeom prst="rect">
            <a:avLst/>
          </a:prstGeom>
          <a:solidFill>
            <a:srgbClr val="5B9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28F8809-0E4E-33DC-86D3-9DD757D16A77}"/>
              </a:ext>
            </a:extLst>
          </p:cNvPr>
          <p:cNvSpPr/>
          <p:nvPr/>
        </p:nvSpPr>
        <p:spPr>
          <a:xfrm>
            <a:off x="559526" y="2099007"/>
            <a:ext cx="152400" cy="152400"/>
          </a:xfrm>
          <a:prstGeom prst="ellipse">
            <a:avLst/>
          </a:prstGeom>
          <a:solidFill>
            <a:srgbClr val="E48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821FF4-9BE6-CA29-F297-D96440468806}"/>
              </a:ext>
            </a:extLst>
          </p:cNvPr>
          <p:cNvSpPr/>
          <p:nvPr/>
        </p:nvSpPr>
        <p:spPr>
          <a:xfrm>
            <a:off x="627986" y="2221046"/>
            <a:ext cx="19050" cy="714523"/>
          </a:xfrm>
          <a:prstGeom prst="rect">
            <a:avLst/>
          </a:prstGeom>
          <a:solidFill>
            <a:srgbClr val="5B9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30B7776-1619-3DF5-D3C8-30B32BBE5F4D}"/>
              </a:ext>
            </a:extLst>
          </p:cNvPr>
          <p:cNvSpPr/>
          <p:nvPr/>
        </p:nvSpPr>
        <p:spPr>
          <a:xfrm>
            <a:off x="559526" y="2813531"/>
            <a:ext cx="152400" cy="152400"/>
          </a:xfrm>
          <a:prstGeom prst="ellipse">
            <a:avLst/>
          </a:prstGeom>
          <a:solidFill>
            <a:srgbClr val="E48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560E24-B8B0-577F-74C9-298984E6D5F2}"/>
              </a:ext>
            </a:extLst>
          </p:cNvPr>
          <p:cNvSpPr/>
          <p:nvPr/>
        </p:nvSpPr>
        <p:spPr>
          <a:xfrm>
            <a:off x="627986" y="2935570"/>
            <a:ext cx="19050" cy="714523"/>
          </a:xfrm>
          <a:prstGeom prst="rect">
            <a:avLst/>
          </a:prstGeom>
          <a:solidFill>
            <a:srgbClr val="5B9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D926B1B-A90A-3239-6D0C-9554D1FE9B55}"/>
              </a:ext>
            </a:extLst>
          </p:cNvPr>
          <p:cNvSpPr/>
          <p:nvPr/>
        </p:nvSpPr>
        <p:spPr>
          <a:xfrm>
            <a:off x="559526" y="3528054"/>
            <a:ext cx="152400" cy="152400"/>
          </a:xfrm>
          <a:prstGeom prst="ellipse">
            <a:avLst/>
          </a:prstGeom>
          <a:solidFill>
            <a:srgbClr val="E48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6B55E2-522C-03CB-CEDB-04A9E3040325}"/>
              </a:ext>
            </a:extLst>
          </p:cNvPr>
          <p:cNvSpPr/>
          <p:nvPr/>
        </p:nvSpPr>
        <p:spPr>
          <a:xfrm>
            <a:off x="627986" y="3650093"/>
            <a:ext cx="19050" cy="714523"/>
          </a:xfrm>
          <a:prstGeom prst="rect">
            <a:avLst/>
          </a:prstGeom>
          <a:solidFill>
            <a:srgbClr val="5B9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765C3D8-3533-AB36-C137-2C1A7B4EB361}"/>
              </a:ext>
            </a:extLst>
          </p:cNvPr>
          <p:cNvSpPr/>
          <p:nvPr/>
        </p:nvSpPr>
        <p:spPr>
          <a:xfrm>
            <a:off x="559526" y="4242578"/>
            <a:ext cx="152400" cy="152400"/>
          </a:xfrm>
          <a:prstGeom prst="ellipse">
            <a:avLst/>
          </a:prstGeom>
          <a:solidFill>
            <a:srgbClr val="E48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B0F01B-B300-C7DA-712E-13FBD089A2BA}"/>
              </a:ext>
            </a:extLst>
          </p:cNvPr>
          <p:cNvSpPr txBox="1"/>
          <p:nvPr/>
        </p:nvSpPr>
        <p:spPr>
          <a:xfrm>
            <a:off x="864310" y="1363603"/>
            <a:ext cx="1338080" cy="2381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34" b="1" i="0" dirty="0">
                <a:solidFill>
                  <a:srgbClr val="E4863B"/>
                </a:solidFill>
                <a:latin typeface="Raleway"/>
              </a:rPr>
              <a:t>2022 - Prompt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328020-5989-7F01-0E2B-D1530E45FC8D}"/>
              </a:ext>
            </a:extLst>
          </p:cNvPr>
          <p:cNvSpPr txBox="1"/>
          <p:nvPr/>
        </p:nvSpPr>
        <p:spPr>
          <a:xfrm>
            <a:off x="864310" y="1676283"/>
            <a:ext cx="3621939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79" b="0" i="0">
                <a:solidFill>
                  <a:srgbClr val="E8E8E8"/>
                </a:solidFill>
                <a:latin typeface="Raleway"/>
              </a:rPr>
              <a:t>Instrucciones de texto simples y respuestas básicas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D2C600-0EEF-653E-EC4F-E83E6F9AFB85}"/>
              </a:ext>
            </a:extLst>
          </p:cNvPr>
          <p:cNvSpPr txBox="1"/>
          <p:nvPr/>
        </p:nvSpPr>
        <p:spPr>
          <a:xfrm>
            <a:off x="864310" y="2078109"/>
            <a:ext cx="1397907" cy="2381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34" b="1" i="0">
                <a:solidFill>
                  <a:srgbClr val="E4863B"/>
                </a:solidFill>
                <a:latin typeface="Raleway"/>
              </a:rPr>
              <a:t>2023 - Chatbot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B757B8-FA9E-5A1B-9CF0-8DE6CF126F0D}"/>
              </a:ext>
            </a:extLst>
          </p:cNvPr>
          <p:cNvSpPr txBox="1"/>
          <p:nvPr/>
        </p:nvSpPr>
        <p:spPr>
          <a:xfrm>
            <a:off x="864310" y="2390789"/>
            <a:ext cx="3520887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79" b="0" i="0">
                <a:solidFill>
                  <a:srgbClr val="E8E8E8"/>
                </a:solidFill>
                <a:latin typeface="Raleway"/>
              </a:rPr>
              <a:t>Conversaciones interactivas con contexto limitado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79C02B-176A-1CAC-6298-597F8AD4972E}"/>
              </a:ext>
            </a:extLst>
          </p:cNvPr>
          <p:cNvSpPr txBox="1"/>
          <p:nvPr/>
        </p:nvSpPr>
        <p:spPr>
          <a:xfrm>
            <a:off x="864310" y="2792615"/>
            <a:ext cx="1325132" cy="2381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34" b="1" i="0">
                <a:solidFill>
                  <a:srgbClr val="E4863B"/>
                </a:solidFill>
                <a:latin typeface="Raleway"/>
              </a:rPr>
              <a:t>2024 - Copilot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AD771D-2A97-AE12-8DFF-DB80326E2D5D}"/>
              </a:ext>
            </a:extLst>
          </p:cNvPr>
          <p:cNvSpPr txBox="1"/>
          <p:nvPr/>
        </p:nvSpPr>
        <p:spPr>
          <a:xfrm>
            <a:off x="864310" y="3105295"/>
            <a:ext cx="3139450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79" b="0" i="0">
                <a:solidFill>
                  <a:srgbClr val="E8E8E8"/>
                </a:solidFill>
                <a:latin typeface="Raleway"/>
              </a:rPr>
              <a:t>Asistencia integrada en workflows de trabajo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F22839-909B-15EB-5905-50E4C0C7E7AD}"/>
              </a:ext>
            </a:extLst>
          </p:cNvPr>
          <p:cNvSpPr txBox="1"/>
          <p:nvPr/>
        </p:nvSpPr>
        <p:spPr>
          <a:xfrm>
            <a:off x="864310" y="3507121"/>
            <a:ext cx="1313375" cy="2381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34" b="1" i="0">
                <a:solidFill>
                  <a:srgbClr val="E4863B"/>
                </a:solidFill>
                <a:latin typeface="Raleway"/>
              </a:rPr>
              <a:t>2025 - Agente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3FECDE-224F-6886-3288-E3FA589245E1}"/>
              </a:ext>
            </a:extLst>
          </p:cNvPr>
          <p:cNvSpPr txBox="1"/>
          <p:nvPr/>
        </p:nvSpPr>
        <p:spPr>
          <a:xfrm>
            <a:off x="864310" y="3819801"/>
            <a:ext cx="2936751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79" b="0" i="0">
                <a:solidFill>
                  <a:srgbClr val="E8E8E8"/>
                </a:solidFill>
                <a:latin typeface="Raleway"/>
              </a:rPr>
              <a:t>Ejecución autónoma de tareas multi-paso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8FE116-E098-8A25-3A2F-99A60F8BD441}"/>
              </a:ext>
            </a:extLst>
          </p:cNvPr>
          <p:cNvSpPr txBox="1"/>
          <p:nvPr/>
        </p:nvSpPr>
        <p:spPr>
          <a:xfrm>
            <a:off x="864310" y="4221627"/>
            <a:ext cx="2119110" cy="2381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34" b="1" i="0">
                <a:solidFill>
                  <a:srgbClr val="E4863B"/>
                </a:solidFill>
                <a:latin typeface="Raleway"/>
              </a:rPr>
              <a:t>2026 - Humano Digital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84ACCF-A439-22D6-0747-51DB21B20DE0}"/>
              </a:ext>
            </a:extLst>
          </p:cNvPr>
          <p:cNvSpPr txBox="1"/>
          <p:nvPr/>
        </p:nvSpPr>
        <p:spPr>
          <a:xfrm>
            <a:off x="864310" y="4534307"/>
            <a:ext cx="3814667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79" b="0" i="0" dirty="0" err="1">
                <a:solidFill>
                  <a:srgbClr val="E8E8E8"/>
                </a:solidFill>
                <a:latin typeface="Raleway"/>
              </a:rPr>
              <a:t>Interacción</a:t>
            </a:r>
            <a:r>
              <a:rPr sz="1079" b="0" i="0" dirty="0">
                <a:solidFill>
                  <a:srgbClr val="E8E8E8"/>
                </a:solidFill>
                <a:latin typeface="Raleway"/>
              </a:rPr>
              <a:t> multimodal con </a:t>
            </a:r>
            <a:r>
              <a:rPr sz="1079" b="0" i="0" dirty="0" err="1">
                <a:solidFill>
                  <a:srgbClr val="E8E8E8"/>
                </a:solidFill>
                <a:latin typeface="Raleway"/>
              </a:rPr>
              <a:t>voz</a:t>
            </a:r>
            <a:r>
              <a:rPr sz="1079" b="0" i="0" dirty="0">
                <a:solidFill>
                  <a:srgbClr val="E8E8E8"/>
                </a:solidFill>
                <a:latin typeface="Raleway"/>
              </a:rPr>
              <a:t>, avatar y </a:t>
            </a:r>
            <a:r>
              <a:rPr sz="1079" b="0" i="0" dirty="0" err="1">
                <a:solidFill>
                  <a:srgbClr val="E8E8E8"/>
                </a:solidFill>
                <a:latin typeface="Raleway"/>
              </a:rPr>
              <a:t>razonamiento</a:t>
            </a:r>
            <a:endParaRPr sz="1079" b="0" i="0" dirty="0">
              <a:solidFill>
                <a:srgbClr val="E8E8E8"/>
              </a:solidFill>
              <a:latin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74C54D-2678-C768-1263-DB0155263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CFDF3A9-2B2B-5B2A-B04B-D99E5059A767}"/>
              </a:ext>
            </a:extLst>
          </p:cNvPr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ACC9724-5367-BC06-DAA2-053A4B1AC3D7}"/>
              </a:ext>
            </a:extLst>
          </p:cNvPr>
          <p:cNvSpPr/>
          <p:nvPr/>
        </p:nvSpPr>
        <p:spPr>
          <a:xfrm>
            <a:off x="54864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un "Humano Digital"?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5C08568-459B-0F50-2D54-CE572D92574C}"/>
              </a:ext>
            </a:extLst>
          </p:cNvPr>
          <p:cNvSpPr/>
          <p:nvPr/>
        </p:nvSpPr>
        <p:spPr>
          <a:xfrm>
            <a:off x="457200" y="1097280"/>
            <a:ext cx="3931920" cy="3383280"/>
          </a:xfrm>
          <a:prstGeom prst="rect">
            <a:avLst/>
          </a:prstGeom>
          <a:solidFill>
            <a:srgbClr val="160D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4FCB520-60EA-B685-E203-7DE44434D5D9}"/>
              </a:ext>
            </a:extLst>
          </p:cNvPr>
          <p:cNvSpPr/>
          <p:nvPr/>
        </p:nvSpPr>
        <p:spPr>
          <a:xfrm>
            <a:off x="457200" y="1097280"/>
            <a:ext cx="3931920" cy="45720"/>
          </a:xfrm>
          <a:prstGeom prst="rect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7E420F4-5A44-6648-B59B-1A52EA812FC0}"/>
              </a:ext>
            </a:extLst>
          </p:cNvPr>
          <p:cNvSpPr/>
          <p:nvPr/>
        </p:nvSpPr>
        <p:spPr>
          <a:xfrm>
            <a:off x="731520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 dirty="0">
                <a:solidFill>
                  <a:srgbClr val="FFB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humano digital integra seis capacidades que trabajan conjuntamente para crear experiencias naturales y productivas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18902BE-1D40-A5E0-1A7F-FA6DC34D9CA5}"/>
              </a:ext>
            </a:extLst>
          </p:cNvPr>
          <p:cNvSpPr/>
          <p:nvPr/>
        </p:nvSpPr>
        <p:spPr>
          <a:xfrm>
            <a:off x="4754880" y="1097280"/>
            <a:ext cx="3931920" cy="3383280"/>
          </a:xfrm>
          <a:prstGeom prst="rect">
            <a:avLst/>
          </a:prstGeom>
          <a:solidFill>
            <a:srgbClr val="160D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B45B936-3B8D-AE68-247A-26806F664815}"/>
              </a:ext>
            </a:extLst>
          </p:cNvPr>
          <p:cNvSpPr/>
          <p:nvPr/>
        </p:nvSpPr>
        <p:spPr>
          <a:xfrm>
            <a:off x="4754880" y="1097280"/>
            <a:ext cx="3931920" cy="4572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5C640FE-60B9-6327-F3BC-89FE3DC9BB4F}"/>
              </a:ext>
            </a:extLst>
          </p:cNvPr>
          <p:cNvSpPr/>
          <p:nvPr/>
        </p:nvSpPr>
        <p:spPr>
          <a:xfrm>
            <a:off x="5029200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966C55F5-A4AE-507B-5B4D-FEB4EE17A3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389120"/>
            <a:ext cx="548640" cy="548640"/>
          </a:xfrm>
          <a:prstGeom prst="rect">
            <a:avLst/>
          </a:prstGeom>
        </p:spPr>
      </p:pic>
      <p:sp>
        <p:nvSpPr>
          <p:cNvPr id="93" name="Oval 92">
            <a:extLst>
              <a:ext uri="{FF2B5EF4-FFF2-40B4-BE49-F238E27FC236}">
                <a16:creationId xmlns:a16="http://schemas.microsoft.com/office/drawing/2014/main" id="{8BC33CC1-DF00-CACD-E1A9-101F4BF021E8}"/>
              </a:ext>
            </a:extLst>
          </p:cNvPr>
          <p:cNvSpPr/>
          <p:nvPr/>
        </p:nvSpPr>
        <p:spPr>
          <a:xfrm>
            <a:off x="6350073" y="669471"/>
            <a:ext cx="955850" cy="955850"/>
          </a:xfrm>
          <a:prstGeom prst="ellipse">
            <a:avLst/>
          </a:prstGeom>
          <a:gradFill rotWithShape="1">
            <a:gsLst>
              <a:gs pos="0">
                <a:srgbClr val="E4863B"/>
              </a:gs>
              <a:gs pos="100000">
                <a:srgbClr val="CF6E49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94" name="Rounded Rectangle 3">
            <a:extLst>
              <a:ext uri="{FF2B5EF4-FFF2-40B4-BE49-F238E27FC236}">
                <a16:creationId xmlns:a16="http://schemas.microsoft.com/office/drawing/2014/main" id="{7AB4EFAC-2783-DF5D-DF07-05F499776F7F}"/>
              </a:ext>
            </a:extLst>
          </p:cNvPr>
          <p:cNvSpPr/>
          <p:nvPr/>
        </p:nvSpPr>
        <p:spPr>
          <a:xfrm>
            <a:off x="5418973" y="1843801"/>
            <a:ext cx="1354405" cy="782922"/>
          </a:xfrm>
          <a:prstGeom prst="roundRect">
            <a:avLst>
              <a:gd name="adj" fmla="val 13952"/>
            </a:avLst>
          </a:prstGeom>
          <a:solidFill>
            <a:srgbClr val="1A5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95" name="Rounded Rectangle 4">
            <a:extLst>
              <a:ext uri="{FF2B5EF4-FFF2-40B4-BE49-F238E27FC236}">
                <a16:creationId xmlns:a16="http://schemas.microsoft.com/office/drawing/2014/main" id="{21EF64D9-3FC0-EBA9-9CF7-F9DE34B30C20}"/>
              </a:ext>
            </a:extLst>
          </p:cNvPr>
          <p:cNvSpPr/>
          <p:nvPr/>
        </p:nvSpPr>
        <p:spPr>
          <a:xfrm>
            <a:off x="6882618" y="1843801"/>
            <a:ext cx="1354405" cy="652986"/>
          </a:xfrm>
          <a:prstGeom prst="roundRect">
            <a:avLst>
              <a:gd name="adj" fmla="val 16729"/>
            </a:avLst>
          </a:prstGeom>
          <a:solidFill>
            <a:srgbClr val="1A5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96" name="Rounded Rectangle 5">
            <a:extLst>
              <a:ext uri="{FF2B5EF4-FFF2-40B4-BE49-F238E27FC236}">
                <a16:creationId xmlns:a16="http://schemas.microsoft.com/office/drawing/2014/main" id="{976ABCE2-40D9-8383-C46D-25C8DAB5AD96}"/>
              </a:ext>
            </a:extLst>
          </p:cNvPr>
          <p:cNvSpPr/>
          <p:nvPr/>
        </p:nvSpPr>
        <p:spPr>
          <a:xfrm>
            <a:off x="5418973" y="2735963"/>
            <a:ext cx="1354405" cy="782922"/>
          </a:xfrm>
          <a:prstGeom prst="roundRect">
            <a:avLst>
              <a:gd name="adj" fmla="val 13952"/>
            </a:avLst>
          </a:prstGeom>
          <a:solidFill>
            <a:srgbClr val="1A5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97" name="Rounded Rectangle 6">
            <a:extLst>
              <a:ext uri="{FF2B5EF4-FFF2-40B4-BE49-F238E27FC236}">
                <a16:creationId xmlns:a16="http://schemas.microsoft.com/office/drawing/2014/main" id="{92699F3D-B447-874B-1A0F-7BE6266FCDFF}"/>
              </a:ext>
            </a:extLst>
          </p:cNvPr>
          <p:cNvSpPr/>
          <p:nvPr/>
        </p:nvSpPr>
        <p:spPr>
          <a:xfrm>
            <a:off x="6882618" y="2735963"/>
            <a:ext cx="1354405" cy="782922"/>
          </a:xfrm>
          <a:prstGeom prst="roundRect">
            <a:avLst>
              <a:gd name="adj" fmla="val 13952"/>
            </a:avLst>
          </a:prstGeom>
          <a:solidFill>
            <a:srgbClr val="1A5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98" name="Rounded Rectangle 7">
            <a:extLst>
              <a:ext uri="{FF2B5EF4-FFF2-40B4-BE49-F238E27FC236}">
                <a16:creationId xmlns:a16="http://schemas.microsoft.com/office/drawing/2014/main" id="{63731CDE-9E67-4E3A-D03E-D6946D20416F}"/>
              </a:ext>
            </a:extLst>
          </p:cNvPr>
          <p:cNvSpPr/>
          <p:nvPr/>
        </p:nvSpPr>
        <p:spPr>
          <a:xfrm>
            <a:off x="5418973" y="3628125"/>
            <a:ext cx="1354405" cy="782922"/>
          </a:xfrm>
          <a:prstGeom prst="roundRect">
            <a:avLst>
              <a:gd name="adj" fmla="val 13952"/>
            </a:avLst>
          </a:prstGeom>
          <a:solidFill>
            <a:srgbClr val="1A5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99" name="Rounded Rectangle 8">
            <a:extLst>
              <a:ext uri="{FF2B5EF4-FFF2-40B4-BE49-F238E27FC236}">
                <a16:creationId xmlns:a16="http://schemas.microsoft.com/office/drawing/2014/main" id="{D744C498-C5A8-8E23-C1A8-9D413423848F}"/>
              </a:ext>
            </a:extLst>
          </p:cNvPr>
          <p:cNvSpPr/>
          <p:nvPr/>
        </p:nvSpPr>
        <p:spPr>
          <a:xfrm>
            <a:off x="6882618" y="3628124"/>
            <a:ext cx="1354405" cy="782921"/>
          </a:xfrm>
          <a:prstGeom prst="roundRect">
            <a:avLst>
              <a:gd name="adj" fmla="val 16729"/>
            </a:avLst>
          </a:prstGeom>
          <a:solidFill>
            <a:srgbClr val="1A5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68A146D-7D5E-3451-4638-E2D59609A232}"/>
              </a:ext>
            </a:extLst>
          </p:cNvPr>
          <p:cNvSpPr txBox="1"/>
          <p:nvPr/>
        </p:nvSpPr>
        <p:spPr>
          <a:xfrm>
            <a:off x="6582904" y="991300"/>
            <a:ext cx="48986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Raleway"/>
              </a:rPr>
              <a:t>Humano</a:t>
            </a:r>
          </a:p>
          <a:p>
            <a:pPr algn="ctr"/>
            <a:r>
              <a:rPr sz="900" b="1" i="0" dirty="0">
                <a:solidFill>
                  <a:srgbClr val="FFFFFF"/>
                </a:solidFill>
                <a:latin typeface="Raleway"/>
              </a:rPr>
              <a:t>Digital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DB68429-CA85-006D-2DF9-BAEA5C124FC6}"/>
              </a:ext>
            </a:extLst>
          </p:cNvPr>
          <p:cNvSpPr txBox="1"/>
          <p:nvPr/>
        </p:nvSpPr>
        <p:spPr>
          <a:xfrm>
            <a:off x="5993384" y="1952994"/>
            <a:ext cx="205184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E4863B"/>
                </a:solidFill>
                <a:latin typeface="Raleway"/>
              </a:rPr>
              <a:t>Voz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56BDAFF-8DD6-3156-9B7E-6A7EEAEC98D2}"/>
              </a:ext>
            </a:extLst>
          </p:cNvPr>
          <p:cNvSpPr txBox="1"/>
          <p:nvPr/>
        </p:nvSpPr>
        <p:spPr>
          <a:xfrm>
            <a:off x="5557737" y="2134452"/>
            <a:ext cx="1076478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00" b="0" i="0">
                <a:solidFill>
                  <a:srgbClr val="CCE2FF"/>
                </a:solidFill>
                <a:latin typeface="Raleway"/>
              </a:rPr>
              <a:t>Conversación bidireccional fluida como con una persona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593972A-EEE4-F4E1-DE91-D5504C423C63}"/>
              </a:ext>
            </a:extLst>
          </p:cNvPr>
          <p:cNvSpPr txBox="1"/>
          <p:nvPr/>
        </p:nvSpPr>
        <p:spPr>
          <a:xfrm>
            <a:off x="7162895" y="1952994"/>
            <a:ext cx="79348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E4863B"/>
                </a:solidFill>
                <a:latin typeface="Raleway"/>
              </a:rPr>
              <a:t>Razonamiento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8CDF290-4586-9D55-092C-9BC89F843D5D}"/>
              </a:ext>
            </a:extLst>
          </p:cNvPr>
          <p:cNvSpPr txBox="1"/>
          <p:nvPr/>
        </p:nvSpPr>
        <p:spPr>
          <a:xfrm>
            <a:off x="7034468" y="2134452"/>
            <a:ext cx="1050235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00" b="0" i="0">
                <a:solidFill>
                  <a:srgbClr val="CCE2FF"/>
                </a:solidFill>
                <a:latin typeface="Raleway"/>
              </a:rPr>
              <a:t>Comprensión contextual y toma de decisiones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8182B21-95A3-2A97-791A-D663A77B18AC}"/>
              </a:ext>
            </a:extLst>
          </p:cNvPr>
          <p:cNvSpPr txBox="1"/>
          <p:nvPr/>
        </p:nvSpPr>
        <p:spPr>
          <a:xfrm>
            <a:off x="5853121" y="2845134"/>
            <a:ext cx="485710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E4863B"/>
                </a:solidFill>
                <a:latin typeface="Raleway"/>
              </a:rPr>
              <a:t>Memoria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E477D71-0A12-59A6-D9A5-16E91E9E63BC}"/>
              </a:ext>
            </a:extLst>
          </p:cNvPr>
          <p:cNvSpPr txBox="1"/>
          <p:nvPr/>
        </p:nvSpPr>
        <p:spPr>
          <a:xfrm>
            <a:off x="5555071" y="3026591"/>
            <a:ext cx="108191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00" b="0" i="0">
                <a:solidFill>
                  <a:srgbClr val="CCE2FF"/>
                </a:solidFill>
                <a:latin typeface="Raleway"/>
              </a:rPr>
              <a:t>Recordar conversaciones previas y preferencias del usuario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04A11C0-5F9C-2EC4-0392-1FA37775DBFD}"/>
              </a:ext>
            </a:extLst>
          </p:cNvPr>
          <p:cNvSpPr txBox="1"/>
          <p:nvPr/>
        </p:nvSpPr>
        <p:spPr>
          <a:xfrm>
            <a:off x="7182878" y="2845134"/>
            <a:ext cx="753411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E4863B"/>
                </a:solidFill>
                <a:latin typeface="Raleway"/>
              </a:rPr>
              <a:t>Herramientas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37CF452-2BC2-6B1A-4982-12622B9269A6}"/>
              </a:ext>
            </a:extLst>
          </p:cNvPr>
          <p:cNvSpPr txBox="1"/>
          <p:nvPr/>
        </p:nvSpPr>
        <p:spPr>
          <a:xfrm>
            <a:off x="7149358" y="3026591"/>
            <a:ext cx="820453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00" b="0" i="0">
                <a:solidFill>
                  <a:srgbClr val="CCE2FF"/>
                </a:solidFill>
                <a:latin typeface="Raleway"/>
              </a:rPr>
              <a:t>Acceso a sistemas empresariales para ejecutar acciones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C8445E1-B793-83C7-6319-8FADCB078A32}"/>
              </a:ext>
            </a:extLst>
          </p:cNvPr>
          <p:cNvSpPr txBox="1"/>
          <p:nvPr/>
        </p:nvSpPr>
        <p:spPr>
          <a:xfrm>
            <a:off x="5914890" y="3737272"/>
            <a:ext cx="362279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E4863B"/>
                </a:solidFill>
                <a:latin typeface="Raleway"/>
              </a:rPr>
              <a:t>Avatar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04CE555-6A06-3D82-0F0F-31F3B6B679E5}"/>
              </a:ext>
            </a:extLst>
          </p:cNvPr>
          <p:cNvSpPr txBox="1"/>
          <p:nvPr/>
        </p:nvSpPr>
        <p:spPr>
          <a:xfrm>
            <a:off x="5659507" y="3918732"/>
            <a:ext cx="87293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00" b="0" i="0">
                <a:solidFill>
                  <a:srgbClr val="CCE2FF"/>
                </a:solidFill>
                <a:latin typeface="Raleway"/>
              </a:rPr>
              <a:t>Presencia visual que genera confianza y engagement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CD1BA71-F997-E52B-614D-A9216A4D02E5}"/>
              </a:ext>
            </a:extLst>
          </p:cNvPr>
          <p:cNvSpPr txBox="1"/>
          <p:nvPr/>
        </p:nvSpPr>
        <p:spPr>
          <a:xfrm>
            <a:off x="7210985" y="3737273"/>
            <a:ext cx="69730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E4863B"/>
                </a:solidFill>
                <a:latin typeface="Raleway"/>
              </a:rPr>
              <a:t>Tiempo Real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7A76F45-CC25-35F7-91C1-81EAECDD14CF}"/>
              </a:ext>
            </a:extLst>
          </p:cNvPr>
          <p:cNvSpPr txBox="1"/>
          <p:nvPr/>
        </p:nvSpPr>
        <p:spPr>
          <a:xfrm>
            <a:off x="7038414" y="3918732"/>
            <a:ext cx="1042341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00" b="0" i="0">
                <a:solidFill>
                  <a:srgbClr val="CCE2FF"/>
                </a:solidFill>
                <a:latin typeface="Raleway"/>
              </a:rPr>
              <a:t>Respuesta inmediata sin retrasos perceptibles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55D8C5ED-7540-8E1E-F7F8-7141C4804532}"/>
              </a:ext>
            </a:extLst>
          </p:cNvPr>
          <p:cNvSpPr txBox="1"/>
          <p:nvPr/>
        </p:nvSpPr>
        <p:spPr>
          <a:xfrm>
            <a:off x="620131" y="2043272"/>
            <a:ext cx="3794760" cy="2287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s-ES" sz="1050" b="0" i="0" dirty="0">
                <a:solidFill>
                  <a:srgbClr val="E8E8E8"/>
                </a:solidFill>
                <a:latin typeface="Raleway"/>
              </a:rPr>
              <a:t>La combinación de estos elementos crea valor diferenciador: no es solo automatización, es una experiencia que se siente personal y reduce barreras de adopción tecnológica</a:t>
            </a:r>
          </a:p>
          <a:p>
            <a:pPr marL="205675" indent="-205675" algn="l">
              <a:spcBef>
                <a:spcPts val="959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s-ES" sz="1050" b="0" i="0" dirty="0">
                <a:solidFill>
                  <a:srgbClr val="E8E8E8"/>
                </a:solidFill>
                <a:latin typeface="Raleway"/>
              </a:rPr>
              <a:t>Azure AI </a:t>
            </a:r>
            <a:r>
              <a:rPr lang="es-ES" sz="1050" b="0" i="0" dirty="0" err="1">
                <a:solidFill>
                  <a:srgbClr val="E8E8E8"/>
                </a:solidFill>
                <a:latin typeface="Raleway"/>
              </a:rPr>
              <a:t>Foundry</a:t>
            </a:r>
            <a:r>
              <a:rPr lang="es-ES" sz="1050" b="0" i="0" dirty="0">
                <a:solidFill>
                  <a:srgbClr val="E8E8E8"/>
                </a:solidFill>
                <a:latin typeface="Raleway"/>
              </a:rPr>
              <a:t> proporciona estos componentes como servicios integrados que reducen complejidad operativa y aceleran time-</a:t>
            </a:r>
            <a:r>
              <a:rPr lang="es-ES" sz="1050" b="0" i="0" dirty="0" err="1">
                <a:solidFill>
                  <a:srgbClr val="E8E8E8"/>
                </a:solidFill>
                <a:latin typeface="Raleway"/>
              </a:rPr>
              <a:t>to</a:t>
            </a:r>
            <a:r>
              <a:rPr lang="es-ES" sz="1050" b="0" i="0" dirty="0">
                <a:solidFill>
                  <a:srgbClr val="E8E8E8"/>
                </a:solidFill>
                <a:latin typeface="Raleway"/>
              </a:rPr>
              <a:t>-</a:t>
            </a:r>
            <a:r>
              <a:rPr lang="es-ES" sz="1050" b="0" i="0" dirty="0" err="1">
                <a:solidFill>
                  <a:srgbClr val="E8E8E8"/>
                </a:solidFill>
                <a:latin typeface="Raleway"/>
              </a:rPr>
              <a:t>market</a:t>
            </a:r>
            <a:r>
              <a:rPr lang="es-ES" sz="1050" b="0" i="0" dirty="0">
                <a:solidFill>
                  <a:srgbClr val="E8E8E8"/>
                </a:solidFill>
                <a:latin typeface="Raleway"/>
              </a:rPr>
              <a:t> de meses a semanas</a:t>
            </a:r>
          </a:p>
          <a:p>
            <a:pPr marL="205675" indent="-205675" algn="l">
              <a:spcBef>
                <a:spcPts val="959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s-ES" sz="1050" b="0" i="0" dirty="0">
                <a:solidFill>
                  <a:srgbClr val="E8E8E8"/>
                </a:solidFill>
                <a:latin typeface="Raleway"/>
              </a:rPr>
              <a:t>El éxito depende de la sincronización precisa: incluso pequeños retrasos rompen la sensación de naturalidad y generan frustración que impacta la experiencia del usuario</a:t>
            </a:r>
          </a:p>
        </p:txBody>
      </p:sp>
    </p:spTree>
    <p:extLst>
      <p:ext uri="{BB962C8B-B14F-4D97-AF65-F5344CB8AC3E}">
        <p14:creationId xmlns:p14="http://schemas.microsoft.com/office/powerpoint/2010/main" val="861587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65C7C3-E46F-9F09-E29A-5F87FEB52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A0B88C8-F4DB-D3C2-4306-7B56D5E03513}"/>
              </a:ext>
            </a:extLst>
          </p:cNvPr>
          <p:cNvSpPr/>
          <p:nvPr/>
        </p:nvSpPr>
        <p:spPr>
          <a:xfrm>
            <a:off x="73152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Casos de Uso con ROI Demostrable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51A7927-9AC8-5E21-4A20-72C983D42DE6}"/>
              </a:ext>
            </a:extLst>
          </p:cNvPr>
          <p:cNvSpPr/>
          <p:nvPr/>
        </p:nvSpPr>
        <p:spPr>
          <a:xfrm>
            <a:off x="339634" y="1142999"/>
            <a:ext cx="8098971" cy="3383280"/>
          </a:xfrm>
          <a:prstGeom prst="rect">
            <a:avLst/>
          </a:prstGeom>
          <a:solidFill>
            <a:srgbClr val="1E1050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3D00AF2-945C-583E-9A1B-42A45424D7D6}"/>
              </a:ext>
            </a:extLst>
          </p:cNvPr>
          <p:cNvSpPr/>
          <p:nvPr/>
        </p:nvSpPr>
        <p:spPr>
          <a:xfrm>
            <a:off x="339635" y="1097280"/>
            <a:ext cx="8098970" cy="45719"/>
          </a:xfrm>
          <a:prstGeom prst="rect">
            <a:avLst/>
          </a:prstGeom>
          <a:solidFill>
            <a:srgbClr val="FF2D7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F1A91EA1-7628-63D6-4EBF-EAB42A456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389120"/>
            <a:ext cx="548640" cy="54864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F13FCA3-A7DB-AA0A-292A-5F55BCD787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92342"/>
              </p:ext>
            </p:extLst>
          </p:nvPr>
        </p:nvGraphicFramePr>
        <p:xfrm>
          <a:off x="633548" y="1109091"/>
          <a:ext cx="7641772" cy="3381265"/>
        </p:xfrm>
        <a:graphic>
          <a:graphicData uri="http://schemas.openxmlformats.org/drawingml/2006/table">
            <a:tbl>
              <a:tblPr/>
              <a:tblGrid>
                <a:gridCol w="192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6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6811">
                  <a:extLst>
                    <a:ext uri="{9D8B030D-6E8A-4147-A177-3AD203B41FA5}">
                      <a16:colId xmlns:a16="http://schemas.microsoft.com/office/drawing/2014/main" val="1405839522"/>
                    </a:ext>
                  </a:extLst>
                </a:gridCol>
              </a:tblGrid>
              <a:tr h="6338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dirty="0">
                          <a:solidFill>
                            <a:srgbClr val="E4863B"/>
                          </a:solidFill>
                          <a:latin typeface="Raleway"/>
                        </a:rPr>
                        <a:t>Caso de Uso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mpd="sng">
                      <a:solidFill>
                        <a:srgbClr val="E4863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dirty="0">
                          <a:solidFill>
                            <a:srgbClr val="E4863B"/>
                          </a:solidFill>
                          <a:latin typeface="Raleway"/>
                        </a:rPr>
                        <a:t>Impacto Empresarial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mpd="sng">
                      <a:solidFill>
                        <a:srgbClr val="E4863B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s-ES" sz="1400" b="1" i="0" dirty="0">
                          <a:solidFill>
                            <a:srgbClr val="E4863B"/>
                          </a:solidFill>
                          <a:latin typeface="Raleway"/>
                        </a:rPr>
                        <a:t>Beneficios</a:t>
                      </a:r>
                      <a:endParaRPr sz="1400" b="1" i="0" dirty="0">
                        <a:solidFill>
                          <a:srgbClr val="E4863B"/>
                        </a:solidFill>
                        <a:latin typeface="Raleway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48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61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E4863B"/>
                          </a:solidFill>
                          <a:latin typeface="Raleway"/>
                        </a:rPr>
                        <a:t>Atención al Cliente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48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1E3A5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40%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reducción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en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tiempo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de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resolución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,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disponibilidad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24/7,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escalado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flexible sin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contratar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personal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48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1E3A5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Los picos de demanda se gestionan sin degradación de servicio ni contratación temporal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48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8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E4863B"/>
                          </a:solidFill>
                          <a:latin typeface="Raleway"/>
                        </a:rPr>
                        <a:t>Onboarding Empleados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1E3A5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60%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reducción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en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tiempo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de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capacitación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,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experiencia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consistente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, libera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tiempo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de RRHH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1E3A5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Cada empleado recibe información completa y actualizada, eliminando variabilidad por formadores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endParaRPr sz="1000" b="0" i="0" dirty="0">
                        <a:solidFill>
                          <a:srgbClr val="E8E8E8"/>
                        </a:solidFill>
                        <a:latin typeface="Raleway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88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E4863B"/>
                          </a:solidFill>
                          <a:latin typeface="Raleway"/>
                        </a:rPr>
                        <a:t>Soporte IT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1E3A5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50%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menos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tickets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escalados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a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humanos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,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resolución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instantánea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de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problemas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comunes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, MTTR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reducido</a:t>
                      </a:r>
                      <a:endParaRPr sz="1000" b="0" i="0" dirty="0">
                        <a:solidFill>
                          <a:srgbClr val="E8E8E8"/>
                        </a:solidFill>
                        <a:latin typeface="Raleway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1E3A52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Los técnicos especializados se enfocan en problemas complejos de mayor valor empresarial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endParaRPr sz="1000" b="0" i="0" dirty="0">
                        <a:solidFill>
                          <a:srgbClr val="E8E8E8"/>
                        </a:solidFill>
                        <a:latin typeface="Raleway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88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E4863B"/>
                          </a:solidFill>
                          <a:latin typeface="Raleway"/>
                        </a:rPr>
                        <a:t>Formación Corporativa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Práctica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ilimitada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sin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coste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marginal,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evaluación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objetiva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,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adaptación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al </a:t>
                      </a:r>
                      <a:r>
                        <a:rPr sz="1000" b="0" i="0" dirty="0" err="1">
                          <a:solidFill>
                            <a:srgbClr val="E8E8E8"/>
                          </a:solidFill>
                          <a:latin typeface="Raleway"/>
                        </a:rPr>
                        <a:t>ritmo</a:t>
                      </a:r>
                      <a:r>
                        <a:rPr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 individual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i="0" dirty="0">
                          <a:solidFill>
                            <a:srgbClr val="E8E8E8"/>
                          </a:solidFill>
                          <a:latin typeface="Raleway"/>
                        </a:rPr>
                        <a:t>Empleados ganan confianza en entorno seguro antes de interactuar con clientes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endParaRPr sz="1000" b="0" i="0" dirty="0">
                        <a:solidFill>
                          <a:srgbClr val="E8E8E8"/>
                        </a:solidFill>
                        <a:latin typeface="Raleway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5011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D611D8-0348-E79D-32E8-6DB4B9EB4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1D212BA-96F0-19DA-8A96-7623E86AF88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8000"/>
          </a:blip>
          <a:stretch>
            <a:fillRect/>
          </a:stretch>
        </p:blipFill>
        <p:spPr>
          <a:xfrm>
            <a:off x="5303520" y="548640"/>
            <a:ext cx="3840480" cy="384048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A10EEBD1-C0E3-5230-DEBF-B6983FEF991B}"/>
              </a:ext>
            </a:extLst>
          </p:cNvPr>
          <p:cNvSpPr/>
          <p:nvPr/>
        </p:nvSpPr>
        <p:spPr>
          <a:xfrm>
            <a:off x="731520" y="1828800"/>
            <a:ext cx="914400" cy="45720"/>
          </a:xfrm>
          <a:prstGeom prst="rect">
            <a:avLst/>
          </a:prstGeom>
          <a:solidFill>
            <a:srgbClr val="FFB03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6C8FDC7-F49A-0E85-9ECE-35AF81B59A7B}"/>
              </a:ext>
            </a:extLst>
          </p:cNvPr>
          <p:cNvSpPr/>
          <p:nvPr/>
        </p:nvSpPr>
        <p:spPr>
          <a:xfrm>
            <a:off x="731520" y="1933575"/>
            <a:ext cx="48120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Concepts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83382C54-21DB-B665-A1DD-8C1D64D32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389120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982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CD1377-3FDC-3670-5EEF-FCBA487CE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66DE3E-1E0C-66AA-E069-FC3C44AFD03D}"/>
              </a:ext>
            </a:extLst>
          </p:cNvPr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C00C888-A106-81CD-6B16-54E0CB134907}"/>
              </a:ext>
            </a:extLst>
          </p:cNvPr>
          <p:cNvSpPr/>
          <p:nvPr/>
        </p:nvSpPr>
        <p:spPr>
          <a:xfrm>
            <a:off x="54864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Verdadero Reto: Producción vs Prototipo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B5DE950-6987-B978-5E64-2C9955FDFE33}"/>
              </a:ext>
            </a:extLst>
          </p:cNvPr>
          <p:cNvSpPr/>
          <p:nvPr/>
        </p:nvSpPr>
        <p:spPr>
          <a:xfrm>
            <a:off x="457200" y="1097280"/>
            <a:ext cx="2632166" cy="3794760"/>
          </a:xfrm>
          <a:prstGeom prst="rect">
            <a:avLst/>
          </a:prstGeom>
          <a:solidFill>
            <a:srgbClr val="160D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08E4698-01D9-0590-F78B-B927AB614F83}"/>
              </a:ext>
            </a:extLst>
          </p:cNvPr>
          <p:cNvSpPr/>
          <p:nvPr/>
        </p:nvSpPr>
        <p:spPr>
          <a:xfrm>
            <a:off x="457200" y="1097280"/>
            <a:ext cx="2632166" cy="45719"/>
          </a:xfrm>
          <a:prstGeom prst="rect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78946FE-AD77-F40B-46B6-8104FC02A320}"/>
              </a:ext>
            </a:extLst>
          </p:cNvPr>
          <p:cNvSpPr/>
          <p:nvPr/>
        </p:nvSpPr>
        <p:spPr>
          <a:xfrm>
            <a:off x="3429000" y="1097280"/>
            <a:ext cx="5257800" cy="3383280"/>
          </a:xfrm>
          <a:prstGeom prst="rect">
            <a:avLst/>
          </a:prstGeom>
          <a:solidFill>
            <a:srgbClr val="160D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27C7627-CBCF-E81B-6B70-D5610A9557CD}"/>
              </a:ext>
            </a:extLst>
          </p:cNvPr>
          <p:cNvSpPr/>
          <p:nvPr/>
        </p:nvSpPr>
        <p:spPr>
          <a:xfrm>
            <a:off x="3429000" y="1097280"/>
            <a:ext cx="5257800" cy="45719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C4B8A4D-2CFA-CE67-C805-56C56F2EF67A}"/>
              </a:ext>
            </a:extLst>
          </p:cNvPr>
          <p:cNvSpPr/>
          <p:nvPr/>
        </p:nvSpPr>
        <p:spPr>
          <a:xfrm>
            <a:off x="5029200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539CC975-9061-2B55-E444-9563298A6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389120"/>
            <a:ext cx="548640" cy="548640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9FA1357A-248E-7BEF-57EB-2D5B9B125F3D}"/>
              </a:ext>
            </a:extLst>
          </p:cNvPr>
          <p:cNvSpPr txBox="1"/>
          <p:nvPr/>
        </p:nvSpPr>
        <p:spPr>
          <a:xfrm>
            <a:off x="3574692" y="1747527"/>
            <a:ext cx="4990188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s-ES" sz="1050" b="0" i="0" dirty="0">
                <a:solidFill>
                  <a:srgbClr val="E8E8E8"/>
                </a:solidFill>
                <a:latin typeface="Raleway"/>
              </a:rPr>
              <a:t>La latencia determina adopción: usuarios abandonan si el agente tarda más de medio segundo en responder, similar a expectativas con humanos reales.</a:t>
            </a: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endParaRPr lang="es-ES" sz="1050" dirty="0">
              <a:solidFill>
                <a:srgbClr val="E8E8E8"/>
              </a:solidFill>
              <a:latin typeface="Raleway"/>
            </a:endParaRP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s-ES" sz="1050" b="0" i="0" dirty="0">
                <a:solidFill>
                  <a:srgbClr val="E8E8E8"/>
                </a:solidFill>
                <a:latin typeface="Raleway"/>
              </a:rPr>
              <a:t>La gestión de turnos conversacionales requiere inteligencia contextual para distinguir pausas naturales de finales de turno, evitando interrupciones frustrantes.</a:t>
            </a: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endParaRPr lang="es-ES" sz="1050" b="0" i="0" dirty="0">
              <a:solidFill>
                <a:srgbClr val="E8E8E8"/>
              </a:solidFill>
              <a:latin typeface="Raleway"/>
            </a:endParaRP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s-ES" sz="1050" b="0" i="0" dirty="0">
                <a:solidFill>
                  <a:srgbClr val="E8E8E8"/>
                </a:solidFill>
                <a:latin typeface="Raleway"/>
              </a:rPr>
              <a:t>Los costes pueden escalar rápidamente sin arquitectura optimizada: miles de conversaciones simultáneas con modelos avanzados impactan presupuesto operativo si no se implementan estrategias de eficiencia.</a:t>
            </a: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endParaRPr lang="es-ES" sz="1050" b="0" i="0" dirty="0">
              <a:solidFill>
                <a:srgbClr val="E8E8E8"/>
              </a:solidFill>
              <a:latin typeface="Raleway"/>
            </a:endParaRP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s-ES" sz="1050" b="0" i="0" dirty="0">
                <a:solidFill>
                  <a:srgbClr val="E8E8E8"/>
                </a:solidFill>
                <a:latin typeface="Raleway"/>
              </a:rPr>
              <a:t>La seguridad tiene implicaciones únicas cuando los agentes acceden a sistemas empresariales: cada interacción requiere validación de permisos y protección contra manipulación maliciosa.</a:t>
            </a: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endParaRPr lang="es-ES" sz="1050" b="0" i="0" dirty="0">
              <a:solidFill>
                <a:srgbClr val="E8E8E8"/>
              </a:solidFill>
              <a:latin typeface="Raleway"/>
            </a:endParaRP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s-ES" sz="1050" b="0" i="0" dirty="0">
                <a:solidFill>
                  <a:srgbClr val="E8E8E8"/>
                </a:solidFill>
                <a:latin typeface="Raleway"/>
              </a:rPr>
              <a:t>Mantener coherencia en sesiones largas (20+ minutos) presenta desafíos técnicos y de experiencia que no aparecen en demos de 3 minutos.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8F1E860-2422-9E86-869B-1D561DD43FD5}"/>
              </a:ext>
            </a:extLst>
          </p:cNvPr>
          <p:cNvSpPr/>
          <p:nvPr/>
        </p:nvSpPr>
        <p:spPr>
          <a:xfrm>
            <a:off x="3566160" y="1281944"/>
            <a:ext cx="499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 dirty="0">
                <a:solidFill>
                  <a:srgbClr val="FFB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Cinco barreras </a:t>
            </a:r>
            <a:r>
              <a:rPr lang="es-ES" sz="1200" b="1" dirty="0">
                <a:solidFill>
                  <a:srgbClr val="B079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críticas</a:t>
            </a:r>
            <a:r>
              <a:rPr lang="es-ES" sz="1200" b="1" dirty="0">
                <a:solidFill>
                  <a:srgbClr val="FFB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que determinan si un humano digital es demo impresionante o solución escalable en producción</a:t>
            </a:r>
          </a:p>
        </p:txBody>
      </p: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EB5036EF-9CFB-DC1D-DC60-A43868BAA239}"/>
              </a:ext>
            </a:extLst>
          </p:cNvPr>
          <p:cNvGrpSpPr/>
          <p:nvPr/>
        </p:nvGrpSpPr>
        <p:grpSpPr>
          <a:xfrm>
            <a:off x="579120" y="1270929"/>
            <a:ext cx="2251052" cy="3438231"/>
            <a:chOff x="304800" y="501253"/>
            <a:chExt cx="3833663" cy="5855493"/>
          </a:xfrm>
        </p:grpSpPr>
        <p:sp>
          <p:nvSpPr>
            <p:cNvPr id="116" name="Rounded Rectangle 2">
              <a:extLst>
                <a:ext uri="{FF2B5EF4-FFF2-40B4-BE49-F238E27FC236}">
                  <a16:creationId xmlns:a16="http://schemas.microsoft.com/office/drawing/2014/main" id="{0A358303-87AC-2344-1982-76047E6AB926}"/>
                </a:ext>
              </a:extLst>
            </p:cNvPr>
            <p:cNvSpPr/>
            <p:nvPr/>
          </p:nvSpPr>
          <p:spPr>
            <a:xfrm>
              <a:off x="304800" y="501253"/>
              <a:ext cx="3833663" cy="988218"/>
            </a:xfrm>
            <a:prstGeom prst="roundRect">
              <a:avLst>
                <a:gd name="adj" fmla="val 15421"/>
              </a:avLst>
            </a:prstGeom>
            <a:solidFill>
              <a:srgbClr val="1A50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100"/>
            </a:p>
          </p:txBody>
        </p:sp>
        <p:sp>
          <p:nvSpPr>
            <p:cNvPr id="117" name="Rounded Rectangle 3">
              <a:extLst>
                <a:ext uri="{FF2B5EF4-FFF2-40B4-BE49-F238E27FC236}">
                  <a16:creationId xmlns:a16="http://schemas.microsoft.com/office/drawing/2014/main" id="{AC5CF53F-FCFA-1C90-994C-73E76667FBE3}"/>
                </a:ext>
              </a:extLst>
            </p:cNvPr>
            <p:cNvSpPr/>
            <p:nvPr/>
          </p:nvSpPr>
          <p:spPr>
            <a:xfrm>
              <a:off x="304800" y="1718071"/>
              <a:ext cx="3833663" cy="988218"/>
            </a:xfrm>
            <a:prstGeom prst="roundRect">
              <a:avLst>
                <a:gd name="adj" fmla="val 15421"/>
              </a:avLst>
            </a:prstGeom>
            <a:solidFill>
              <a:srgbClr val="1A50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100"/>
            </a:p>
          </p:txBody>
        </p:sp>
        <p:sp>
          <p:nvSpPr>
            <p:cNvPr id="118" name="Rounded Rectangle 4">
              <a:extLst>
                <a:ext uri="{FF2B5EF4-FFF2-40B4-BE49-F238E27FC236}">
                  <a16:creationId xmlns:a16="http://schemas.microsoft.com/office/drawing/2014/main" id="{C0E29934-D345-A3D8-2B03-00823ED0E2C3}"/>
                </a:ext>
              </a:extLst>
            </p:cNvPr>
            <p:cNvSpPr/>
            <p:nvPr/>
          </p:nvSpPr>
          <p:spPr>
            <a:xfrm>
              <a:off x="304800" y="2934890"/>
              <a:ext cx="3833663" cy="988218"/>
            </a:xfrm>
            <a:prstGeom prst="roundRect">
              <a:avLst>
                <a:gd name="adj" fmla="val 15421"/>
              </a:avLst>
            </a:prstGeom>
            <a:solidFill>
              <a:srgbClr val="1A50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100"/>
            </a:p>
          </p:txBody>
        </p:sp>
        <p:sp>
          <p:nvSpPr>
            <p:cNvPr id="119" name="Rounded Rectangle 5">
              <a:extLst>
                <a:ext uri="{FF2B5EF4-FFF2-40B4-BE49-F238E27FC236}">
                  <a16:creationId xmlns:a16="http://schemas.microsoft.com/office/drawing/2014/main" id="{E0B1FFB0-38D4-3491-31C6-4D8BC450E32F}"/>
                </a:ext>
              </a:extLst>
            </p:cNvPr>
            <p:cNvSpPr/>
            <p:nvPr/>
          </p:nvSpPr>
          <p:spPr>
            <a:xfrm>
              <a:off x="304800" y="4151709"/>
              <a:ext cx="3833663" cy="988218"/>
            </a:xfrm>
            <a:prstGeom prst="roundRect">
              <a:avLst>
                <a:gd name="adj" fmla="val 15421"/>
              </a:avLst>
            </a:prstGeom>
            <a:solidFill>
              <a:srgbClr val="1A50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100"/>
            </a:p>
          </p:txBody>
        </p:sp>
        <p:sp>
          <p:nvSpPr>
            <p:cNvPr id="120" name="Rounded Rectangle 6">
              <a:extLst>
                <a:ext uri="{FF2B5EF4-FFF2-40B4-BE49-F238E27FC236}">
                  <a16:creationId xmlns:a16="http://schemas.microsoft.com/office/drawing/2014/main" id="{49FDB439-D14F-3D9B-C24F-6D31EDAC6570}"/>
                </a:ext>
              </a:extLst>
            </p:cNvPr>
            <p:cNvSpPr/>
            <p:nvPr/>
          </p:nvSpPr>
          <p:spPr>
            <a:xfrm>
              <a:off x="304800" y="5368528"/>
              <a:ext cx="3833663" cy="988218"/>
            </a:xfrm>
            <a:prstGeom prst="roundRect">
              <a:avLst>
                <a:gd name="adj" fmla="val 15421"/>
              </a:avLst>
            </a:prstGeom>
            <a:solidFill>
              <a:srgbClr val="1A50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10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65086A9F-4565-E4C1-E52F-586783B55F4C}"/>
                </a:ext>
              </a:extLst>
            </p:cNvPr>
            <p:cNvSpPr txBox="1"/>
            <p:nvPr/>
          </p:nvSpPr>
          <p:spPr>
            <a:xfrm>
              <a:off x="533386" y="739359"/>
              <a:ext cx="903630" cy="26208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000" b="1" i="0">
                  <a:solidFill>
                    <a:srgbClr val="F28630"/>
                  </a:solidFill>
                  <a:latin typeface="Raleway"/>
                </a:rPr>
                <a:t>Latencia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275C51DE-CD42-4161-0D96-E161B3AB8387}"/>
                </a:ext>
              </a:extLst>
            </p:cNvPr>
            <p:cNvSpPr txBox="1"/>
            <p:nvPr/>
          </p:nvSpPr>
          <p:spPr>
            <a:xfrm>
              <a:off x="533386" y="1062755"/>
              <a:ext cx="3600871" cy="18345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700" b="0" i="0">
                  <a:solidFill>
                    <a:srgbClr val="CCE2FF"/>
                  </a:solidFill>
                  <a:latin typeface="Raleway"/>
                </a:rPr>
                <a:t>Experiencia natural requiere respuesta instantánea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45D3CCC2-ED72-8B03-E88F-EC2A000023FD}"/>
                </a:ext>
              </a:extLst>
            </p:cNvPr>
            <p:cNvSpPr txBox="1"/>
            <p:nvPr/>
          </p:nvSpPr>
          <p:spPr>
            <a:xfrm>
              <a:off x="533386" y="1956146"/>
              <a:ext cx="1422331" cy="26208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000" b="1" i="0">
                  <a:solidFill>
                    <a:srgbClr val="F28630"/>
                  </a:solidFill>
                  <a:latin typeface="Raleway"/>
                </a:rPr>
                <a:t>Conversación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E308FEC9-51B1-3D47-CF38-09552B08F41B}"/>
                </a:ext>
              </a:extLst>
            </p:cNvPr>
            <p:cNvSpPr txBox="1"/>
            <p:nvPr/>
          </p:nvSpPr>
          <p:spPr>
            <a:xfrm>
              <a:off x="533386" y="2279543"/>
              <a:ext cx="2517061" cy="18345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700" b="0" i="0">
                  <a:solidFill>
                    <a:srgbClr val="CCE2FF"/>
                  </a:solidFill>
                  <a:latin typeface="Raleway"/>
                </a:rPr>
                <a:t>Detectar turnos sin cortar al usuario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4E872A0B-751C-9701-0250-8985AEC6375A}"/>
                </a:ext>
              </a:extLst>
            </p:cNvPr>
            <p:cNvSpPr txBox="1"/>
            <p:nvPr/>
          </p:nvSpPr>
          <p:spPr>
            <a:xfrm>
              <a:off x="533386" y="3172936"/>
              <a:ext cx="606061" cy="26208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000" b="1" i="0">
                  <a:solidFill>
                    <a:srgbClr val="F28630"/>
                  </a:solidFill>
                  <a:latin typeface="Raleway"/>
                </a:rPr>
                <a:t>Coste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B50BA45C-AC30-AB9C-E623-27CFFE1C95B3}"/>
                </a:ext>
              </a:extLst>
            </p:cNvPr>
            <p:cNvSpPr txBox="1"/>
            <p:nvPr/>
          </p:nvSpPr>
          <p:spPr>
            <a:xfrm>
              <a:off x="533386" y="3496331"/>
              <a:ext cx="3221400" cy="18345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700" b="0" i="0">
                  <a:solidFill>
                    <a:srgbClr val="CCE2FF"/>
                  </a:solidFill>
                  <a:latin typeface="Raleway"/>
                </a:rPr>
                <a:t>Optimizar para miles de sesiones simultáneas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C3F227D6-2089-2824-60E3-1FFFA2D27B8A}"/>
                </a:ext>
              </a:extLst>
            </p:cNvPr>
            <p:cNvSpPr txBox="1"/>
            <p:nvPr/>
          </p:nvSpPr>
          <p:spPr>
            <a:xfrm>
              <a:off x="533386" y="4389724"/>
              <a:ext cx="1086540" cy="26208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000" b="1" i="0">
                  <a:solidFill>
                    <a:srgbClr val="F28630"/>
                  </a:solidFill>
                  <a:latin typeface="Raleway"/>
                </a:rPr>
                <a:t>Seguridad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758F9A6B-B26B-2716-1E9A-C8E465DD478C}"/>
                </a:ext>
              </a:extLst>
            </p:cNvPr>
            <p:cNvSpPr txBox="1"/>
            <p:nvPr/>
          </p:nvSpPr>
          <p:spPr>
            <a:xfrm>
              <a:off x="533386" y="4713118"/>
              <a:ext cx="2904720" cy="18345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700" b="0" i="0">
                  <a:solidFill>
                    <a:srgbClr val="CCE2FF"/>
                  </a:solidFill>
                  <a:latin typeface="Raleway"/>
                </a:rPr>
                <a:t>Proteger datos y prevenir usos indebidos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D0D89398-549E-9B2D-8111-31EB6823159A}"/>
                </a:ext>
              </a:extLst>
            </p:cNvPr>
            <p:cNvSpPr txBox="1"/>
            <p:nvPr/>
          </p:nvSpPr>
          <p:spPr>
            <a:xfrm>
              <a:off x="533386" y="5606512"/>
              <a:ext cx="1031940" cy="26208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000" b="1" i="0">
                  <a:solidFill>
                    <a:srgbClr val="F28630"/>
                  </a:solidFill>
                  <a:latin typeface="Raleway"/>
                </a:rPr>
                <a:t>Fiabilidad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7834A725-CEDF-2F9A-017C-1B89192BA4DE}"/>
                </a:ext>
              </a:extLst>
            </p:cNvPr>
            <p:cNvSpPr txBox="1"/>
            <p:nvPr/>
          </p:nvSpPr>
          <p:spPr>
            <a:xfrm>
              <a:off x="533386" y="5929908"/>
              <a:ext cx="3082172" cy="18345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700" b="0" i="0">
                  <a:solidFill>
                    <a:srgbClr val="CCE2FF"/>
                  </a:solidFill>
                  <a:latin typeface="Raleway"/>
                </a:rPr>
                <a:t>Mantener calidad en conversaciones largas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7526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BC112E-CF28-A500-CB3E-A5F9F272B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5810B7A-3320-DFD9-73E9-C88ED5239966}"/>
              </a:ext>
            </a:extLst>
          </p:cNvPr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E65E003-42BB-271C-6943-E889F5BC4A6E}"/>
              </a:ext>
            </a:extLst>
          </p:cNvPr>
          <p:cNvSpPr/>
          <p:nvPr/>
        </p:nvSpPr>
        <p:spPr>
          <a:xfrm>
            <a:off x="54864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Estratégica de Alto Nivel</a:t>
            </a:r>
            <a:endParaRPr lang="es-ES" sz="2800" b="1" dirty="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1E44023-5D83-C0C9-8A1C-8CEC02E95D46}"/>
              </a:ext>
            </a:extLst>
          </p:cNvPr>
          <p:cNvSpPr/>
          <p:nvPr/>
        </p:nvSpPr>
        <p:spPr>
          <a:xfrm>
            <a:off x="3429000" y="1097280"/>
            <a:ext cx="5257800" cy="3383280"/>
          </a:xfrm>
          <a:prstGeom prst="rect">
            <a:avLst/>
          </a:prstGeom>
          <a:solidFill>
            <a:srgbClr val="160D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754606E-4DD2-2F5D-BFBB-B6745DD6FFED}"/>
              </a:ext>
            </a:extLst>
          </p:cNvPr>
          <p:cNvSpPr/>
          <p:nvPr/>
        </p:nvSpPr>
        <p:spPr>
          <a:xfrm>
            <a:off x="3429000" y="1097280"/>
            <a:ext cx="5257800" cy="45719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B49BC5F-2F51-D9DA-B171-114A951C3BD5}"/>
              </a:ext>
            </a:extLst>
          </p:cNvPr>
          <p:cNvSpPr/>
          <p:nvPr/>
        </p:nvSpPr>
        <p:spPr>
          <a:xfrm>
            <a:off x="5029200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425F13F7-580A-1484-00D7-FED5984357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389120"/>
            <a:ext cx="548640" cy="548640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B9E3B5AC-6472-DDB7-B69C-8D458998BDEA}"/>
              </a:ext>
            </a:extLst>
          </p:cNvPr>
          <p:cNvSpPr txBox="1"/>
          <p:nvPr/>
        </p:nvSpPr>
        <p:spPr>
          <a:xfrm>
            <a:off x="3429000" y="1205597"/>
            <a:ext cx="4990188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s-ES" sz="1200" b="1" i="0" dirty="0">
                <a:solidFill>
                  <a:srgbClr val="B07936"/>
                </a:solidFill>
                <a:latin typeface="Raleway"/>
              </a:rPr>
              <a:t>Capa de Experiencia y Seguridad:</a:t>
            </a:r>
            <a:r>
              <a:rPr lang="es-ES" sz="1200" b="0" i="0" dirty="0">
                <a:solidFill>
                  <a:srgbClr val="E8E8E8"/>
                </a:solidFill>
                <a:latin typeface="Raleway"/>
              </a:rPr>
              <a:t> Punto de entrada unificado que gestiona autenticación, </a:t>
            </a:r>
            <a:r>
              <a:rPr lang="es-ES" sz="1200" b="0" i="0" dirty="0" err="1">
                <a:solidFill>
                  <a:srgbClr val="E8E8E8"/>
                </a:solidFill>
                <a:latin typeface="Raleway"/>
              </a:rPr>
              <a:t>rate</a:t>
            </a:r>
            <a:r>
              <a:rPr lang="es-ES"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lang="es-ES" sz="1200" b="0" i="0" dirty="0" err="1">
                <a:solidFill>
                  <a:srgbClr val="E8E8E8"/>
                </a:solidFill>
                <a:latin typeface="Raleway"/>
              </a:rPr>
              <a:t>limiting</a:t>
            </a:r>
            <a:r>
              <a:rPr lang="es-ES" sz="1200" b="0" i="0" dirty="0">
                <a:solidFill>
                  <a:srgbClr val="E8E8E8"/>
                </a:solidFill>
                <a:latin typeface="Raleway"/>
              </a:rPr>
              <a:t> y protección contra amenazas</a:t>
            </a: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endParaRPr lang="es-ES" sz="1200" b="0" i="0" dirty="0">
              <a:solidFill>
                <a:srgbClr val="E8E8E8"/>
              </a:solidFill>
              <a:latin typeface="Raleway"/>
            </a:endParaRP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s-ES" sz="1200" b="1" i="0" dirty="0">
                <a:solidFill>
                  <a:srgbClr val="B07936"/>
                </a:solidFill>
                <a:latin typeface="Raleway"/>
              </a:rPr>
              <a:t>Capa de Orquestación Inteligente: </a:t>
            </a:r>
            <a:r>
              <a:rPr lang="es-ES" sz="1200" b="0" i="0" dirty="0">
                <a:solidFill>
                  <a:srgbClr val="E8E8E8"/>
                </a:solidFill>
                <a:latin typeface="Raleway"/>
              </a:rPr>
              <a:t>Coordina razonamiento y colaboración entre agentes especializados cuando un problema requiere </a:t>
            </a:r>
            <a:r>
              <a:rPr lang="es-ES" sz="1200" b="0" i="0" dirty="0" err="1">
                <a:solidFill>
                  <a:srgbClr val="E8E8E8"/>
                </a:solidFill>
                <a:latin typeface="Raleway"/>
              </a:rPr>
              <a:t>expertise</a:t>
            </a:r>
            <a:r>
              <a:rPr lang="es-ES" sz="1200" b="0" i="0" dirty="0">
                <a:solidFill>
                  <a:srgbClr val="E8E8E8"/>
                </a:solidFill>
                <a:latin typeface="Raleway"/>
              </a:rPr>
              <a:t> diversa</a:t>
            </a: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endParaRPr lang="es-ES" sz="1200" b="0" i="0" dirty="0">
              <a:solidFill>
                <a:srgbClr val="E8E8E8"/>
              </a:solidFill>
              <a:latin typeface="Raleway"/>
            </a:endParaRP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s-ES" sz="1200" b="1" i="0" dirty="0">
                <a:solidFill>
                  <a:srgbClr val="B07936"/>
                </a:solidFill>
                <a:latin typeface="Raleway"/>
              </a:rPr>
              <a:t>Capa de Servicios de IA:</a:t>
            </a:r>
            <a:r>
              <a:rPr lang="es-ES" sz="1200" b="0" i="0" dirty="0">
                <a:solidFill>
                  <a:srgbClr val="E8E8E8"/>
                </a:solidFill>
                <a:latin typeface="Raleway"/>
              </a:rPr>
              <a:t> Voz, razonamiento y avatares como servicios gestionados que eliminan necesidad de construir infraestructura ML compleja</a:t>
            </a: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endParaRPr lang="es-ES" sz="1200" b="0" i="0" dirty="0">
              <a:solidFill>
                <a:srgbClr val="E8E8E8"/>
              </a:solidFill>
              <a:latin typeface="Raleway"/>
            </a:endParaRP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s-ES" sz="1200" b="1" i="0" dirty="0">
                <a:solidFill>
                  <a:srgbClr val="B07936"/>
                </a:solidFill>
                <a:latin typeface="Raleway"/>
              </a:rPr>
              <a:t>Capa de Memoria y Conocimiento: </a:t>
            </a:r>
            <a:r>
              <a:rPr lang="es-ES" sz="1200" b="0" i="0" dirty="0">
                <a:solidFill>
                  <a:srgbClr val="E8E8E8"/>
                </a:solidFill>
                <a:latin typeface="Raleway"/>
              </a:rPr>
              <a:t>Almacena contexto de conversaciones y conocimiento empresarial para respuestas contextualmente relevantes</a:t>
            </a: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endParaRPr lang="es-ES" sz="1200" b="0" i="0" dirty="0">
              <a:solidFill>
                <a:srgbClr val="E8E8E8"/>
              </a:solidFill>
              <a:latin typeface="Raleway"/>
            </a:endParaRP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s-ES" sz="1200" b="1" i="0" dirty="0">
                <a:solidFill>
                  <a:srgbClr val="B07936"/>
                </a:solidFill>
                <a:latin typeface="Raleway"/>
              </a:rPr>
              <a:t>Capa de Integración Empresarial:</a:t>
            </a:r>
            <a:r>
              <a:rPr lang="es-ES" sz="1200" b="0" i="0" dirty="0">
                <a:solidFill>
                  <a:srgbClr val="E8E8E8"/>
                </a:solidFill>
                <a:latin typeface="Raleway"/>
              </a:rPr>
              <a:t> Conecta agentes con sistemas existentes mediante protocolos seguros que validan permisos y registran acciones</a:t>
            </a:r>
          </a:p>
        </p:txBody>
      </p:sp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9F9A6124-DC66-71EF-6738-6EFAA5F721C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339" b="20922"/>
          <a:stretch>
            <a:fillRect/>
          </a:stretch>
        </p:blipFill>
        <p:spPr>
          <a:xfrm>
            <a:off x="193040" y="960120"/>
            <a:ext cx="3053080" cy="395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387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image.png">
            <a:extLst>
              <a:ext uri="{FF2B5EF4-FFF2-40B4-BE49-F238E27FC236}">
                <a16:creationId xmlns:a16="http://schemas.microsoft.com/office/drawing/2014/main" id="{252B6923-4343-86BE-B476-C73D6F22C7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7222"/>
          <a:stretch>
            <a:fillRect/>
          </a:stretch>
        </p:blipFill>
        <p:spPr>
          <a:xfrm>
            <a:off x="5986459" y="868680"/>
            <a:ext cx="3157541" cy="338137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Qué Vamos a Construir Hoy</a:t>
            </a:r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4389120"/>
            <a:ext cx="548640" cy="54864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BF14C79-F6E7-122F-7290-5CC7E0B8A442}"/>
              </a:ext>
            </a:extLst>
          </p:cNvPr>
          <p:cNvSpPr txBox="1"/>
          <p:nvPr/>
        </p:nvSpPr>
        <p:spPr>
          <a:xfrm>
            <a:off x="320040" y="2373891"/>
            <a:ext cx="5566410" cy="2600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3265" indent="-21326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sz="1200" b="0" i="0" dirty="0">
                <a:solidFill>
                  <a:srgbClr val="E8E8E8"/>
                </a:solidFill>
                <a:latin typeface="Raleway"/>
              </a:rPr>
              <a:t>Conversación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por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voz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natural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donde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el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usuario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habla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libremente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sin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comandos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especiales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ni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frases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exactas, similar a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interactuar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con un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asistente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humano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competente</a:t>
            </a:r>
            <a:endParaRPr sz="1200" b="0" i="0" dirty="0">
              <a:solidFill>
                <a:srgbClr val="E8E8E8"/>
              </a:solidFill>
              <a:latin typeface="Raleway"/>
            </a:endParaRPr>
          </a:p>
          <a:p>
            <a:pPr marL="213265" indent="-213265" algn="l">
              <a:spcBef>
                <a:spcPts val="959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sz="1200" b="0" i="0" dirty="0" err="1">
                <a:solidFill>
                  <a:srgbClr val="E8E8E8"/>
                </a:solidFill>
                <a:latin typeface="Raleway"/>
              </a:rPr>
              <a:t>Razonamiento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contextual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que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recuerda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toda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la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conversación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: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el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usuario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puede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hacer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referencia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a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información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mencionada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minutos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antes sin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repetirse</a:t>
            </a:r>
            <a:endParaRPr sz="1200" b="0" i="0" dirty="0">
              <a:solidFill>
                <a:srgbClr val="E8E8E8"/>
              </a:solidFill>
              <a:latin typeface="Raleway"/>
            </a:endParaRPr>
          </a:p>
          <a:p>
            <a:pPr marL="213265" indent="-213265" algn="l">
              <a:spcBef>
                <a:spcPts val="959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sz="1200" b="0" i="0" dirty="0" err="1">
                <a:solidFill>
                  <a:srgbClr val="E8E8E8"/>
                </a:solidFill>
                <a:latin typeface="Raleway"/>
              </a:rPr>
              <a:t>Acceso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en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tiempo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real a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sistemas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empresariales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para responder con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datos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actualizados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,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actualizar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registros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y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ejecutar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acciones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sin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intervención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manual</a:t>
            </a:r>
          </a:p>
          <a:p>
            <a:pPr marL="213265" indent="-213265" algn="l">
              <a:spcBef>
                <a:spcPts val="959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sz="1200" b="0" i="0" dirty="0">
                <a:solidFill>
                  <a:srgbClr val="E8E8E8"/>
                </a:solidFill>
                <a:latin typeface="Raleway"/>
              </a:rPr>
              <a:t>Avatar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sincronizado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que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mantiene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engagement visual y genera mayor confianza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que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interfaces de solo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voz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,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especialmente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importante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en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formación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y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atención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al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cliente</a:t>
            </a:r>
            <a:endParaRPr sz="1200" b="0" i="0" dirty="0">
              <a:solidFill>
                <a:srgbClr val="E8E8E8"/>
              </a:solidFill>
              <a:latin typeface="Raleway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FA2E1BC-D655-A317-27C0-0BEA1252A551}"/>
              </a:ext>
            </a:extLst>
          </p:cNvPr>
          <p:cNvGrpSpPr/>
          <p:nvPr/>
        </p:nvGrpSpPr>
        <p:grpSpPr>
          <a:xfrm>
            <a:off x="259080" y="1120730"/>
            <a:ext cx="5490210" cy="1001111"/>
            <a:chOff x="304800" y="1184076"/>
            <a:chExt cx="7010548" cy="1389608"/>
          </a:xfrm>
        </p:grpSpPr>
        <p:sp>
          <p:nvSpPr>
            <p:cNvPr id="20" name="Rounded Rectangle 1">
              <a:extLst>
                <a:ext uri="{FF2B5EF4-FFF2-40B4-BE49-F238E27FC236}">
                  <a16:creationId xmlns:a16="http://schemas.microsoft.com/office/drawing/2014/main" id="{C44AB1D7-B822-9DA4-118B-98B8F60ED5A8}"/>
                </a:ext>
              </a:extLst>
            </p:cNvPr>
            <p:cNvSpPr/>
            <p:nvPr/>
          </p:nvSpPr>
          <p:spPr>
            <a:xfrm>
              <a:off x="304800" y="1184076"/>
              <a:ext cx="2235249" cy="1389608"/>
            </a:xfrm>
            <a:prstGeom prst="roundRect">
              <a:avLst>
                <a:gd name="adj" fmla="val 10967"/>
              </a:avLst>
            </a:prstGeom>
            <a:solidFill>
              <a:srgbClr val="0E35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/>
            </a:p>
          </p:txBody>
        </p:sp>
        <p:sp>
          <p:nvSpPr>
            <p:cNvPr id="21" name="Rounded Rectangle 2">
              <a:extLst>
                <a:ext uri="{FF2B5EF4-FFF2-40B4-BE49-F238E27FC236}">
                  <a16:creationId xmlns:a16="http://schemas.microsoft.com/office/drawing/2014/main" id="{CC34E08D-118F-8B35-644D-058F59126556}"/>
                </a:ext>
              </a:extLst>
            </p:cNvPr>
            <p:cNvSpPr/>
            <p:nvPr/>
          </p:nvSpPr>
          <p:spPr>
            <a:xfrm>
              <a:off x="2692449" y="1184076"/>
              <a:ext cx="2235249" cy="1389608"/>
            </a:xfrm>
            <a:prstGeom prst="roundRect">
              <a:avLst>
                <a:gd name="adj" fmla="val 10967"/>
              </a:avLst>
            </a:prstGeom>
            <a:solidFill>
              <a:srgbClr val="0E35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/>
            </a:p>
          </p:txBody>
        </p:sp>
        <p:sp>
          <p:nvSpPr>
            <p:cNvPr id="22" name="Rounded Rectangle 3">
              <a:extLst>
                <a:ext uri="{FF2B5EF4-FFF2-40B4-BE49-F238E27FC236}">
                  <a16:creationId xmlns:a16="http://schemas.microsoft.com/office/drawing/2014/main" id="{ED51F9DF-17D9-0E46-C2D7-05DAC03A73AF}"/>
                </a:ext>
              </a:extLst>
            </p:cNvPr>
            <p:cNvSpPr/>
            <p:nvPr/>
          </p:nvSpPr>
          <p:spPr>
            <a:xfrm>
              <a:off x="5080099" y="1184076"/>
              <a:ext cx="2235249" cy="1389608"/>
            </a:xfrm>
            <a:prstGeom prst="roundRect">
              <a:avLst>
                <a:gd name="adj" fmla="val 10967"/>
              </a:avLst>
            </a:prstGeom>
            <a:solidFill>
              <a:srgbClr val="0E35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86A050F-AE4E-9703-26A4-02C3F4C4DE50}"/>
                </a:ext>
              </a:extLst>
            </p:cNvPr>
            <p:cNvSpPr txBox="1"/>
            <p:nvPr/>
          </p:nvSpPr>
          <p:spPr>
            <a:xfrm>
              <a:off x="934201" y="1317393"/>
              <a:ext cx="976374" cy="34177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600" b="1" i="0" dirty="0">
                  <a:solidFill>
                    <a:srgbClr val="F28630"/>
                  </a:solidFill>
                  <a:latin typeface="Raleway"/>
                </a:rPr>
                <a:t>&lt;300ms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A1AE35C-2444-3469-C0B3-F77D13B30F71}"/>
                </a:ext>
              </a:extLst>
            </p:cNvPr>
            <p:cNvSpPr txBox="1"/>
            <p:nvPr/>
          </p:nvSpPr>
          <p:spPr>
            <a:xfrm>
              <a:off x="482043" y="1790952"/>
              <a:ext cx="1880545" cy="42721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00" b="0" i="0" dirty="0">
                  <a:solidFill>
                    <a:srgbClr val="E8E8E8"/>
                  </a:solidFill>
                  <a:latin typeface="Raleway"/>
                </a:rPr>
                <a:t>Respuesta </a:t>
              </a:r>
              <a:r>
                <a:rPr sz="1000" b="0" i="0" dirty="0" err="1">
                  <a:solidFill>
                    <a:srgbClr val="E8E8E8"/>
                  </a:solidFill>
                  <a:latin typeface="Raleway"/>
                </a:rPr>
                <a:t>percibida</a:t>
              </a:r>
              <a:r>
                <a:rPr sz="1000" b="0" i="0" dirty="0">
                  <a:solidFill>
                    <a:srgbClr val="E8E8E8"/>
                  </a:solidFill>
                  <a:latin typeface="Raleway"/>
                </a:rPr>
                <a:t> </a:t>
              </a:r>
              <a:r>
                <a:rPr sz="1000" b="0" i="0" dirty="0" err="1">
                  <a:solidFill>
                    <a:srgbClr val="E8E8E8"/>
                  </a:solidFill>
                  <a:latin typeface="Raleway"/>
                </a:rPr>
                <a:t>como</a:t>
              </a:r>
              <a:r>
                <a:rPr sz="1000" b="0" i="0" dirty="0">
                  <a:solidFill>
                    <a:srgbClr val="E8E8E8"/>
                  </a:solidFill>
                  <a:latin typeface="Raleway"/>
                </a:rPr>
                <a:t> </a:t>
              </a:r>
              <a:r>
                <a:rPr sz="1000" b="0" i="0" dirty="0" err="1">
                  <a:solidFill>
                    <a:srgbClr val="E8E8E8"/>
                  </a:solidFill>
                  <a:latin typeface="Raleway"/>
                </a:rPr>
                <a:t>instantánea</a:t>
              </a:r>
              <a:endParaRPr sz="700" b="0" i="0" dirty="0">
                <a:solidFill>
                  <a:srgbClr val="E4863B"/>
                </a:solidFill>
                <a:latin typeface="Raleway"/>
                <a:hlinkClick r:id="rId6" tooltip="Building Production Voice Agents: The Complete Guide ..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B0B6F1D-F3CE-5834-EC3A-8B8A48A40B10}"/>
                </a:ext>
              </a:extLst>
            </p:cNvPr>
            <p:cNvSpPr txBox="1"/>
            <p:nvPr/>
          </p:nvSpPr>
          <p:spPr>
            <a:xfrm>
              <a:off x="3496726" y="1317393"/>
              <a:ext cx="626354" cy="34177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600" b="1" i="0" dirty="0">
                  <a:solidFill>
                    <a:srgbClr val="F28630"/>
                  </a:solidFill>
                  <a:latin typeface="Raleway"/>
                </a:rPr>
                <a:t>24/7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CFD095A-A76F-9CB5-61B4-006114B70BAA}"/>
                </a:ext>
              </a:extLst>
            </p:cNvPr>
            <p:cNvSpPr txBox="1"/>
            <p:nvPr/>
          </p:nvSpPr>
          <p:spPr>
            <a:xfrm>
              <a:off x="2842895" y="1790952"/>
              <a:ext cx="1934360" cy="67286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50" b="0" i="0" dirty="0" err="1">
                  <a:solidFill>
                    <a:srgbClr val="E8E8E8"/>
                  </a:solidFill>
                  <a:latin typeface="Raleway"/>
                </a:rPr>
                <a:t>Disponibilidad</a:t>
              </a:r>
              <a:r>
                <a:rPr sz="1050" b="0" i="0" dirty="0">
                  <a:solidFill>
                    <a:srgbClr val="E8E8E8"/>
                  </a:solidFill>
                  <a:latin typeface="Raleway"/>
                </a:rPr>
                <a:t> sin </a:t>
              </a:r>
              <a:r>
                <a:rPr sz="1050" b="0" i="0" dirty="0" err="1">
                  <a:solidFill>
                    <a:srgbClr val="E8E8E8"/>
                  </a:solidFill>
                  <a:latin typeface="Raleway"/>
                </a:rPr>
                <a:t>interrupciones</a:t>
              </a:r>
              <a:r>
                <a:rPr sz="1050" b="0" i="0" dirty="0">
                  <a:solidFill>
                    <a:srgbClr val="E8E8E8"/>
                  </a:solidFill>
                  <a:latin typeface="Raleway"/>
                </a:rPr>
                <a:t> </a:t>
              </a:r>
              <a:r>
                <a:rPr sz="1050" b="0" i="0" dirty="0" err="1">
                  <a:solidFill>
                    <a:srgbClr val="E8E8E8"/>
                  </a:solidFill>
                  <a:latin typeface="Raleway"/>
                </a:rPr>
                <a:t>ni</a:t>
              </a:r>
              <a:r>
                <a:rPr sz="1050" b="0" i="0" dirty="0">
                  <a:solidFill>
                    <a:srgbClr val="E8E8E8"/>
                  </a:solidFill>
                  <a:latin typeface="Raleway"/>
                </a:rPr>
                <a:t> </a:t>
              </a:r>
              <a:r>
                <a:rPr sz="1050" b="0" i="0" dirty="0" err="1">
                  <a:solidFill>
                    <a:srgbClr val="E8E8E8"/>
                  </a:solidFill>
                  <a:latin typeface="Raleway"/>
                </a:rPr>
                <a:t>vacaciones</a:t>
              </a:r>
              <a:endParaRPr sz="1050" b="0" i="0" dirty="0">
                <a:solidFill>
                  <a:srgbClr val="E8E8E8"/>
                </a:solidFill>
                <a:latin typeface="Raleway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9B6F7A4-BBEC-BD3F-F3A8-FE1A0DCB859D}"/>
                </a:ext>
              </a:extLst>
            </p:cNvPr>
            <p:cNvSpPr txBox="1"/>
            <p:nvPr/>
          </p:nvSpPr>
          <p:spPr>
            <a:xfrm>
              <a:off x="5613103" y="1317393"/>
              <a:ext cx="1168782" cy="34177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s-ES" sz="1600" b="1" dirty="0">
                  <a:solidFill>
                    <a:srgbClr val="F28630"/>
                  </a:solidFill>
                  <a:latin typeface="Raleway"/>
                </a:rPr>
                <a:t>1</a:t>
              </a:r>
              <a:r>
                <a:rPr sz="1600" b="1" i="0" dirty="0">
                  <a:solidFill>
                    <a:srgbClr val="F28630"/>
                  </a:solidFill>
                  <a:latin typeface="Raleway"/>
                </a:rPr>
                <a:t> </a:t>
              </a:r>
              <a:r>
                <a:rPr sz="1600" b="1" i="0" dirty="0" err="1">
                  <a:solidFill>
                    <a:srgbClr val="F28630"/>
                  </a:solidFill>
                  <a:latin typeface="Raleway"/>
                </a:rPr>
                <a:t>sistema</a:t>
              </a:r>
              <a:endParaRPr sz="1600" b="1" i="0" dirty="0">
                <a:solidFill>
                  <a:srgbClr val="F28630"/>
                </a:solidFill>
                <a:latin typeface="Raleway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DFE09B6-282A-4EAC-BD45-5294F3982E6E}"/>
                </a:ext>
              </a:extLst>
            </p:cNvPr>
            <p:cNvSpPr txBox="1"/>
            <p:nvPr/>
          </p:nvSpPr>
          <p:spPr>
            <a:xfrm>
              <a:off x="5291005" y="1790952"/>
              <a:ext cx="1812978" cy="60878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900" b="0" i="0" dirty="0" err="1">
                  <a:solidFill>
                    <a:srgbClr val="E8E8E8"/>
                  </a:solidFill>
                  <a:latin typeface="Raleway"/>
                </a:rPr>
                <a:t>Integrados</a:t>
              </a:r>
              <a:r>
                <a:rPr sz="900" b="0" i="0" dirty="0">
                  <a:solidFill>
                    <a:srgbClr val="E8E8E8"/>
                  </a:solidFill>
                  <a:latin typeface="Raleway"/>
                </a:rPr>
                <a:t> </a:t>
              </a:r>
              <a:r>
                <a:rPr sz="900" b="0" i="0" dirty="0" err="1">
                  <a:solidFill>
                    <a:srgbClr val="E8E8E8"/>
                  </a:solidFill>
                  <a:latin typeface="Raleway"/>
                </a:rPr>
                <a:t>en</a:t>
              </a:r>
              <a:r>
                <a:rPr sz="900" b="0" i="0" dirty="0">
                  <a:solidFill>
                    <a:srgbClr val="E8E8E8"/>
                  </a:solidFill>
                  <a:latin typeface="Raleway"/>
                </a:rPr>
                <a:t> </a:t>
              </a:r>
              <a:r>
                <a:rPr sz="1050" b="0" i="0" dirty="0" err="1">
                  <a:solidFill>
                    <a:srgbClr val="E8E8E8"/>
                  </a:solidFill>
                  <a:latin typeface="Raleway"/>
                </a:rPr>
                <a:t>tiempo</a:t>
              </a:r>
              <a:r>
                <a:rPr sz="900" b="0" i="0" dirty="0">
                  <a:solidFill>
                    <a:srgbClr val="E8E8E8"/>
                  </a:solidFill>
                  <a:latin typeface="Raleway"/>
                </a:rPr>
                <a:t> real (</a:t>
              </a:r>
              <a:r>
                <a:rPr lang="es-ES" sz="900" b="0" i="0" dirty="0" err="1">
                  <a:solidFill>
                    <a:srgbClr val="E8E8E8"/>
                  </a:solidFill>
                  <a:latin typeface="Raleway"/>
                </a:rPr>
                <a:t>Busqued</a:t>
              </a:r>
              <a:r>
                <a:rPr lang="es-ES" sz="900" dirty="0" err="1">
                  <a:solidFill>
                    <a:srgbClr val="E8E8E8"/>
                  </a:solidFill>
                  <a:latin typeface="Raleway"/>
                </a:rPr>
                <a:t>a</a:t>
              </a:r>
              <a:r>
                <a:rPr lang="es-ES" sz="900" dirty="0">
                  <a:solidFill>
                    <a:srgbClr val="E8E8E8"/>
                  </a:solidFill>
                  <a:latin typeface="Raleway"/>
                </a:rPr>
                <a:t> en Internet</a:t>
              </a:r>
              <a:r>
                <a:rPr sz="900" b="0" i="0" dirty="0">
                  <a:solidFill>
                    <a:srgbClr val="E8E8E8"/>
                  </a:solidFill>
                  <a:latin typeface="Raleway"/>
                </a:rPr>
                <a:t>)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731520" y="2194560"/>
            <a:ext cx="1371600" cy="4572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see it in action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4572000" cy="1280160"/>
          </a:xfrm>
          <a:prstGeom prst="rect">
            <a:avLst/>
          </a:prstGeom>
          <a:solidFill>
            <a:srgbClr val="0D0D0D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960120" y="3337560"/>
            <a:ext cx="137160" cy="137160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1188720" y="3337560"/>
            <a:ext cx="137160" cy="137160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417320" y="3337560"/>
            <a:ext cx="137160" cy="137160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600" dirty="0">
                <a:solidFill>
                  <a:srgbClr val="28C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demo --interactive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6400800" y="1828800"/>
            <a:ext cx="2286000" cy="228600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38912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8EBC05-A0AA-4495-AEE8-B8E6FCF9B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2919063-4ED0-B350-5217-AD7B9A83CB6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8000"/>
          </a:blip>
          <a:stretch>
            <a:fillRect/>
          </a:stretch>
        </p:blipFill>
        <p:spPr>
          <a:xfrm>
            <a:off x="5303520" y="548640"/>
            <a:ext cx="3840480" cy="384048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F89B83E3-0006-A910-B55D-484CAE0D648D}"/>
              </a:ext>
            </a:extLst>
          </p:cNvPr>
          <p:cNvSpPr/>
          <p:nvPr/>
        </p:nvSpPr>
        <p:spPr>
          <a:xfrm>
            <a:off x="731520" y="1828800"/>
            <a:ext cx="914400" cy="45720"/>
          </a:xfrm>
          <a:prstGeom prst="rect">
            <a:avLst/>
          </a:prstGeom>
          <a:solidFill>
            <a:srgbClr val="FFB03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BAAE513-4DD2-CD4C-424C-0F748536FE8C}"/>
              </a:ext>
            </a:extLst>
          </p:cNvPr>
          <p:cNvSpPr/>
          <p:nvPr/>
        </p:nvSpPr>
        <p:spPr>
          <a:xfrm>
            <a:off x="731520" y="2468880"/>
            <a:ext cx="48120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Lecciones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kumimoji="0" lang="en-US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aprendidas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y </a:t>
            </a:r>
            <a:r>
              <a:rPr kumimoji="0" lang="en-US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conclusiones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5CF8D2E4-E3D6-0D0C-35BA-F128296011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389120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158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8F61B3-ED12-6319-3FEA-CFFADE74F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6F0DF71-F50B-8EE6-FDB9-267E25EC6AB0}"/>
              </a:ext>
            </a:extLst>
          </p:cNvPr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BBB9DF6-E65E-0440-5971-B95F4ACEF02B}"/>
              </a:ext>
            </a:extLst>
          </p:cNvPr>
          <p:cNvSpPr/>
          <p:nvPr/>
        </p:nvSpPr>
        <p:spPr>
          <a:xfrm>
            <a:off x="54864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Aprendizajes de Producción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8A06DB2-2ADF-8142-FE45-7258B5C874A3}"/>
              </a:ext>
            </a:extLst>
          </p:cNvPr>
          <p:cNvSpPr/>
          <p:nvPr/>
        </p:nvSpPr>
        <p:spPr>
          <a:xfrm>
            <a:off x="457200" y="1090709"/>
            <a:ext cx="4707254" cy="52291"/>
          </a:xfrm>
          <a:prstGeom prst="rect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F98707F-430F-C0AE-FBB5-7A143BC9C820}"/>
              </a:ext>
            </a:extLst>
          </p:cNvPr>
          <p:cNvSpPr/>
          <p:nvPr/>
        </p:nvSpPr>
        <p:spPr>
          <a:xfrm>
            <a:off x="5777864" y="1090709"/>
            <a:ext cx="2880357" cy="52291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E4ADF3A-B391-70FF-F53B-4E96EF970AAD}"/>
              </a:ext>
            </a:extLst>
          </p:cNvPr>
          <p:cNvSpPr txBox="1"/>
          <p:nvPr/>
        </p:nvSpPr>
        <p:spPr>
          <a:xfrm>
            <a:off x="418903" y="1252389"/>
            <a:ext cx="488254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s-ES" sz="1100" b="0" i="0" dirty="0">
                <a:solidFill>
                  <a:srgbClr val="E8E8E8"/>
                </a:solidFill>
                <a:latin typeface="Raleway"/>
              </a:rPr>
              <a:t>Sin métricas detalladas por componente es imposible optimizar: saber que "el sistema es lento" no ayuda sin identificar si el cuello de botella está en voz, razonamiento o acceso a datos</a:t>
            </a: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endParaRPr lang="es-ES" sz="1100" b="0" i="0" dirty="0">
              <a:solidFill>
                <a:srgbClr val="E8E8E8"/>
              </a:solidFill>
              <a:latin typeface="Raleway"/>
            </a:endParaRP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s-ES" sz="1100" b="0" i="0" dirty="0">
                <a:solidFill>
                  <a:srgbClr val="E8E8E8"/>
                </a:solidFill>
                <a:latin typeface="Raleway"/>
              </a:rPr>
              <a:t>La primera interacción debe ser rápida incluso si requiere </a:t>
            </a:r>
            <a:r>
              <a:rPr lang="es-ES" sz="1100" b="0" i="0" dirty="0" err="1">
                <a:solidFill>
                  <a:srgbClr val="E8E8E8"/>
                </a:solidFill>
                <a:latin typeface="Raleway"/>
              </a:rPr>
              <a:t>pre-calentar</a:t>
            </a:r>
            <a:r>
              <a:rPr lang="es-ES" sz="1100" b="0" i="0" dirty="0">
                <a:solidFill>
                  <a:srgbClr val="E8E8E8"/>
                </a:solidFill>
                <a:latin typeface="Raleway"/>
              </a:rPr>
              <a:t> servicios: usuarios juzgan el sistema en segundos y raramente dan segunda oportunidad si la primera experiencia defrauda</a:t>
            </a: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endParaRPr lang="es-ES" sz="1100" b="0" i="0" dirty="0">
              <a:solidFill>
                <a:srgbClr val="E8E8E8"/>
              </a:solidFill>
              <a:latin typeface="Raleway"/>
            </a:endParaRP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s-ES" sz="1100" b="0" i="0" dirty="0">
                <a:solidFill>
                  <a:srgbClr val="E8E8E8"/>
                </a:solidFill>
                <a:latin typeface="Raleway"/>
              </a:rPr>
              <a:t>Cada componente debe tener estrategia de degradación: mejor continuar conversación con funcionalidad reducida que fallar completamente cuando un servicio externo no responde</a:t>
            </a: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endParaRPr lang="es-ES" sz="1100" b="0" i="0" dirty="0">
              <a:solidFill>
                <a:srgbClr val="E8E8E8"/>
              </a:solidFill>
              <a:latin typeface="Raleway"/>
            </a:endParaRP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s-ES" sz="1100" b="0" i="0" dirty="0">
                <a:solidFill>
                  <a:srgbClr val="E8E8E8"/>
                </a:solidFill>
                <a:latin typeface="Raleway"/>
              </a:rPr>
              <a:t>Establecer </a:t>
            </a:r>
            <a:r>
              <a:rPr lang="es-ES" sz="1100" b="0" i="0" dirty="0" err="1">
                <a:solidFill>
                  <a:srgbClr val="E8E8E8"/>
                </a:solidFill>
                <a:latin typeface="Raleway"/>
              </a:rPr>
              <a:t>timeouts</a:t>
            </a:r>
            <a:r>
              <a:rPr lang="es-ES" sz="1100" b="0" i="0" dirty="0">
                <a:solidFill>
                  <a:srgbClr val="E8E8E8"/>
                </a:solidFill>
                <a:latin typeface="Raleway"/>
              </a:rPr>
              <a:t> cortos (2-3 segundos) para servicios externos protege experiencia de usuario: informar "no pude acceder al sistema" es preferible a bloquear conversación 30 segundos</a:t>
            </a: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endParaRPr lang="es-ES" sz="1100" b="0" i="0" dirty="0">
              <a:solidFill>
                <a:srgbClr val="E8E8E8"/>
              </a:solidFill>
              <a:latin typeface="Raleway"/>
            </a:endParaRPr>
          </a:p>
          <a:p>
            <a:pPr marL="205675" indent="-20567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s-ES" sz="1100" b="0" i="0" dirty="0">
                <a:solidFill>
                  <a:srgbClr val="E8E8E8"/>
                </a:solidFill>
                <a:latin typeface="Raleway"/>
              </a:rPr>
              <a:t>Mantener respuestas alternativas preparadas permite funcionar en modo reducido: si síntesis de voz falla, cambiar temporalmente a texto mantiene productividad del usuario</a:t>
            </a:r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6C76B156-3057-5C88-63FE-B1BE3FEF4B59}"/>
              </a:ext>
            </a:extLst>
          </p:cNvPr>
          <p:cNvSpPr/>
          <p:nvPr/>
        </p:nvSpPr>
        <p:spPr>
          <a:xfrm>
            <a:off x="5861901" y="1302328"/>
            <a:ext cx="2796321" cy="598060"/>
          </a:xfrm>
          <a:prstGeom prst="roundRect">
            <a:avLst>
              <a:gd name="adj" fmla="val 16702"/>
            </a:avLst>
          </a:prstGeom>
          <a:solidFill>
            <a:srgbClr val="0E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0A049712-B312-556B-F9BD-853B132F1990}"/>
              </a:ext>
            </a:extLst>
          </p:cNvPr>
          <p:cNvSpPr/>
          <p:nvPr/>
        </p:nvSpPr>
        <p:spPr>
          <a:xfrm>
            <a:off x="5861902" y="2000276"/>
            <a:ext cx="2796322" cy="598060"/>
          </a:xfrm>
          <a:prstGeom prst="roundRect">
            <a:avLst>
              <a:gd name="adj" fmla="val 16702"/>
            </a:avLst>
          </a:prstGeom>
          <a:solidFill>
            <a:srgbClr val="0E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3" name="Rounded Rectangle 4">
            <a:extLst>
              <a:ext uri="{FF2B5EF4-FFF2-40B4-BE49-F238E27FC236}">
                <a16:creationId xmlns:a16="http://schemas.microsoft.com/office/drawing/2014/main" id="{2F124BCA-0B6F-6DB8-AD0F-4A155D7D1B94}"/>
              </a:ext>
            </a:extLst>
          </p:cNvPr>
          <p:cNvSpPr/>
          <p:nvPr/>
        </p:nvSpPr>
        <p:spPr>
          <a:xfrm>
            <a:off x="5861902" y="2698223"/>
            <a:ext cx="2796322" cy="598060"/>
          </a:xfrm>
          <a:prstGeom prst="roundRect">
            <a:avLst>
              <a:gd name="adj" fmla="val 16702"/>
            </a:avLst>
          </a:prstGeom>
          <a:solidFill>
            <a:srgbClr val="0E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147A00C0-AAAA-770A-6BCC-50845A40FB41}"/>
              </a:ext>
            </a:extLst>
          </p:cNvPr>
          <p:cNvSpPr/>
          <p:nvPr/>
        </p:nvSpPr>
        <p:spPr>
          <a:xfrm>
            <a:off x="5861901" y="3396172"/>
            <a:ext cx="2796323" cy="598060"/>
          </a:xfrm>
          <a:prstGeom prst="roundRect">
            <a:avLst>
              <a:gd name="adj" fmla="val 16702"/>
            </a:avLst>
          </a:prstGeom>
          <a:solidFill>
            <a:srgbClr val="0E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4CC34574-929A-5841-3192-35E644BD53C6}"/>
              </a:ext>
            </a:extLst>
          </p:cNvPr>
          <p:cNvSpPr/>
          <p:nvPr/>
        </p:nvSpPr>
        <p:spPr>
          <a:xfrm>
            <a:off x="5861902" y="4094119"/>
            <a:ext cx="2796322" cy="598060"/>
          </a:xfrm>
          <a:prstGeom prst="roundRect">
            <a:avLst>
              <a:gd name="adj" fmla="val 16702"/>
            </a:avLst>
          </a:prstGeom>
          <a:solidFill>
            <a:srgbClr val="0E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28688F-2553-01B8-8B4E-91B235233A3B}"/>
              </a:ext>
            </a:extLst>
          </p:cNvPr>
          <p:cNvSpPr txBox="1"/>
          <p:nvPr/>
        </p:nvSpPr>
        <p:spPr>
          <a:xfrm>
            <a:off x="5998678" y="1428342"/>
            <a:ext cx="1033937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 i="0" dirty="0">
                <a:solidFill>
                  <a:srgbClr val="F28630"/>
                </a:solidFill>
                <a:latin typeface="Raleway"/>
              </a:rPr>
              <a:t>Observabilidad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AFD82B-813D-1297-4B3B-5ED891B8F4FE}"/>
              </a:ext>
            </a:extLst>
          </p:cNvPr>
          <p:cNvSpPr txBox="1"/>
          <p:nvPr/>
        </p:nvSpPr>
        <p:spPr>
          <a:xfrm>
            <a:off x="5998678" y="1647036"/>
            <a:ext cx="2098331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CCE2FF"/>
                </a:solidFill>
                <a:latin typeface="Raleway"/>
              </a:rPr>
              <a:t>Medir cada componente desde día uno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5639FE-7D7A-4817-E240-944B5B4589F5}"/>
              </a:ext>
            </a:extLst>
          </p:cNvPr>
          <p:cNvSpPr txBox="1"/>
          <p:nvPr/>
        </p:nvSpPr>
        <p:spPr>
          <a:xfrm>
            <a:off x="5998678" y="2126272"/>
            <a:ext cx="1142942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28630"/>
                </a:solidFill>
                <a:latin typeface="Raleway"/>
              </a:rPr>
              <a:t>Arranque Rápido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A9B62C-7A40-3E8C-4A8B-3C5988719E78}"/>
              </a:ext>
            </a:extLst>
          </p:cNvPr>
          <p:cNvSpPr txBox="1"/>
          <p:nvPr/>
        </p:nvSpPr>
        <p:spPr>
          <a:xfrm>
            <a:off x="5998678" y="2344967"/>
            <a:ext cx="207428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CCE2FF"/>
                </a:solidFill>
                <a:latin typeface="Raleway"/>
              </a:rPr>
              <a:t>Primera impresión determina adopción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3C4432-022B-56EE-22C6-16257A778124}"/>
              </a:ext>
            </a:extLst>
          </p:cNvPr>
          <p:cNvSpPr txBox="1"/>
          <p:nvPr/>
        </p:nvSpPr>
        <p:spPr>
          <a:xfrm>
            <a:off x="5998678" y="2824202"/>
            <a:ext cx="956993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28630"/>
                </a:solidFill>
                <a:latin typeface="Raleway"/>
              </a:rPr>
              <a:t>Límites Claros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C2A19C-4942-2306-D1C8-7F77AD5AB27E}"/>
              </a:ext>
            </a:extLst>
          </p:cNvPr>
          <p:cNvSpPr txBox="1"/>
          <p:nvPr/>
        </p:nvSpPr>
        <p:spPr>
          <a:xfrm>
            <a:off x="5998678" y="3042897"/>
            <a:ext cx="233076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 i="0" dirty="0" err="1">
                <a:solidFill>
                  <a:srgbClr val="CCE2FF"/>
                </a:solidFill>
                <a:latin typeface="Raleway"/>
              </a:rPr>
              <a:t>Degradar</a:t>
            </a:r>
            <a:r>
              <a:rPr sz="900" b="0" i="0" dirty="0">
                <a:solidFill>
                  <a:srgbClr val="CCE2FF"/>
                </a:solidFill>
                <a:latin typeface="Raleway"/>
              </a:rPr>
              <a:t> con </a:t>
            </a:r>
            <a:r>
              <a:rPr sz="900" b="0" i="0" dirty="0" err="1">
                <a:solidFill>
                  <a:srgbClr val="CCE2FF"/>
                </a:solidFill>
                <a:latin typeface="Raleway"/>
              </a:rPr>
              <a:t>gracia</a:t>
            </a:r>
            <a:r>
              <a:rPr sz="900" b="0" i="0" dirty="0">
                <a:solidFill>
                  <a:srgbClr val="CCE2FF"/>
                </a:solidFill>
                <a:latin typeface="Raleway"/>
              </a:rPr>
              <a:t> </a:t>
            </a:r>
            <a:r>
              <a:rPr sz="900" b="0" i="0" dirty="0" err="1">
                <a:solidFill>
                  <a:srgbClr val="CCE2FF"/>
                </a:solidFill>
                <a:latin typeface="Raleway"/>
              </a:rPr>
              <a:t>cuando</a:t>
            </a:r>
            <a:r>
              <a:rPr sz="900" b="0" i="0" dirty="0">
                <a:solidFill>
                  <a:srgbClr val="CCE2FF"/>
                </a:solidFill>
                <a:latin typeface="Raleway"/>
              </a:rPr>
              <a:t> </a:t>
            </a:r>
            <a:r>
              <a:rPr sz="900" b="0" i="0" dirty="0" err="1">
                <a:solidFill>
                  <a:srgbClr val="CCE2FF"/>
                </a:solidFill>
                <a:latin typeface="Raleway"/>
              </a:rPr>
              <a:t>fallan</a:t>
            </a:r>
            <a:r>
              <a:rPr sz="900" b="0" i="0" dirty="0">
                <a:solidFill>
                  <a:srgbClr val="CCE2FF"/>
                </a:solidFill>
                <a:latin typeface="Raleway"/>
              </a:rPr>
              <a:t> </a:t>
            </a:r>
            <a:r>
              <a:rPr sz="900" b="0" i="0" dirty="0" err="1">
                <a:solidFill>
                  <a:srgbClr val="CCE2FF"/>
                </a:solidFill>
                <a:latin typeface="Raleway"/>
              </a:rPr>
              <a:t>servicios</a:t>
            </a:r>
            <a:endParaRPr sz="900" b="0" i="0" dirty="0">
              <a:solidFill>
                <a:srgbClr val="CCE2FF"/>
              </a:solidFill>
              <a:latin typeface="Raleway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99D46F-7B98-4E34-F636-66A1222A9B31}"/>
              </a:ext>
            </a:extLst>
          </p:cNvPr>
          <p:cNvSpPr txBox="1"/>
          <p:nvPr/>
        </p:nvSpPr>
        <p:spPr>
          <a:xfrm>
            <a:off x="5998678" y="3522133"/>
            <a:ext cx="1325684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28630"/>
                </a:solidFill>
                <a:latin typeface="Raleway"/>
              </a:rPr>
              <a:t>Timeouts Agresivos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3F157A-0964-EC20-D2AF-9DDEACABC227}"/>
              </a:ext>
            </a:extLst>
          </p:cNvPr>
          <p:cNvSpPr txBox="1"/>
          <p:nvPr/>
        </p:nvSpPr>
        <p:spPr>
          <a:xfrm>
            <a:off x="5998678" y="3740827"/>
            <a:ext cx="2545569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CCE2FF"/>
                </a:solidFill>
                <a:latin typeface="Raleway"/>
              </a:rPr>
              <a:t>No bloquear usuario esperando sistemas lentos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887590-D609-B22B-B166-947E5B0FCD8C}"/>
              </a:ext>
            </a:extLst>
          </p:cNvPr>
          <p:cNvSpPr txBox="1"/>
          <p:nvPr/>
        </p:nvSpPr>
        <p:spPr>
          <a:xfrm>
            <a:off x="5998678" y="4220063"/>
            <a:ext cx="1441100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28630"/>
                </a:solidFill>
                <a:latin typeface="Raleway"/>
              </a:rPr>
              <a:t>Plan de Contingencia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AB2063-08A8-7D71-F4D5-9C7242BD4704}"/>
              </a:ext>
            </a:extLst>
          </p:cNvPr>
          <p:cNvSpPr txBox="1"/>
          <p:nvPr/>
        </p:nvSpPr>
        <p:spPr>
          <a:xfrm>
            <a:off x="5998678" y="4438758"/>
            <a:ext cx="1899559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CCE2FF"/>
                </a:solidFill>
                <a:latin typeface="Raleway"/>
              </a:rPr>
              <a:t>Siempre tener respuesta alternativa</a:t>
            </a:r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105EFF65-AB1E-D3C9-87A1-56318BF2CB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389120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35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B1D117-5E48-27E7-9D95-08EED726A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1F43081-B360-81C7-5C4A-0CDDE7613535}"/>
              </a:ext>
            </a:extLst>
          </p:cNvPr>
          <p:cNvSpPr/>
          <p:nvPr/>
        </p:nvSpPr>
        <p:spPr>
          <a:xfrm>
            <a:off x="73152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Consideraciones de </a:t>
            </a:r>
            <a:r>
              <a:rPr lang="es-ES" sz="3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Responsible</a:t>
            </a:r>
            <a:r>
              <a:rPr lang="es-E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AI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723DB01-C483-F133-EC34-3F7E3B478F02}"/>
              </a:ext>
            </a:extLst>
          </p:cNvPr>
          <p:cNvSpPr/>
          <p:nvPr/>
        </p:nvSpPr>
        <p:spPr>
          <a:xfrm>
            <a:off x="339635" y="1097280"/>
            <a:ext cx="8098970" cy="45719"/>
          </a:xfrm>
          <a:prstGeom prst="rect">
            <a:avLst/>
          </a:prstGeom>
          <a:solidFill>
            <a:srgbClr val="FF2D7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9C1DF436-B228-67DC-B683-1A843644C4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389120"/>
            <a:ext cx="548640" cy="54864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45556EBD-6A5C-A897-D9BB-BCA6FDB8BA6A}"/>
              </a:ext>
            </a:extLst>
          </p:cNvPr>
          <p:cNvGrpSpPr/>
          <p:nvPr/>
        </p:nvGrpSpPr>
        <p:grpSpPr>
          <a:xfrm>
            <a:off x="476398" y="1316492"/>
            <a:ext cx="3476478" cy="3294031"/>
            <a:chOff x="476397" y="1217293"/>
            <a:chExt cx="4389239" cy="3522464"/>
          </a:xfrm>
        </p:grpSpPr>
        <p:sp>
          <p:nvSpPr>
            <p:cNvPr id="5" name="Rounded Rectangle 2">
              <a:extLst>
                <a:ext uri="{FF2B5EF4-FFF2-40B4-BE49-F238E27FC236}">
                  <a16:creationId xmlns:a16="http://schemas.microsoft.com/office/drawing/2014/main" id="{B867C028-4A4A-012C-ACE8-09A31AC3136F}"/>
                </a:ext>
              </a:extLst>
            </p:cNvPr>
            <p:cNvSpPr/>
            <p:nvPr/>
          </p:nvSpPr>
          <p:spPr>
            <a:xfrm>
              <a:off x="476397" y="1217293"/>
              <a:ext cx="2103239" cy="1287958"/>
            </a:xfrm>
            <a:prstGeom prst="roundRect">
              <a:avLst>
                <a:gd name="adj" fmla="val 11832"/>
              </a:avLst>
            </a:prstGeom>
            <a:solidFill>
              <a:srgbClr val="1A50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ounded Rectangle 3">
              <a:extLst>
                <a:ext uri="{FF2B5EF4-FFF2-40B4-BE49-F238E27FC236}">
                  <a16:creationId xmlns:a16="http://schemas.microsoft.com/office/drawing/2014/main" id="{479EADE8-E9C5-EE33-3716-2DA0B70E0235}"/>
                </a:ext>
              </a:extLst>
            </p:cNvPr>
            <p:cNvSpPr/>
            <p:nvPr/>
          </p:nvSpPr>
          <p:spPr>
            <a:xfrm>
              <a:off x="2762397" y="1217293"/>
              <a:ext cx="2103239" cy="1287958"/>
            </a:xfrm>
            <a:prstGeom prst="roundRect">
              <a:avLst>
                <a:gd name="adj" fmla="val 11832"/>
              </a:avLst>
            </a:prstGeom>
            <a:solidFill>
              <a:srgbClr val="1A50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ounded Rectangle 4">
              <a:extLst>
                <a:ext uri="{FF2B5EF4-FFF2-40B4-BE49-F238E27FC236}">
                  <a16:creationId xmlns:a16="http://schemas.microsoft.com/office/drawing/2014/main" id="{3144DAC9-3E71-5C6A-6BED-A0225F341413}"/>
                </a:ext>
              </a:extLst>
            </p:cNvPr>
            <p:cNvSpPr/>
            <p:nvPr/>
          </p:nvSpPr>
          <p:spPr>
            <a:xfrm>
              <a:off x="1600049" y="2688013"/>
              <a:ext cx="2141785" cy="581025"/>
            </a:xfrm>
            <a:prstGeom prst="roundRect">
              <a:avLst>
                <a:gd name="adj" fmla="val 26229"/>
              </a:avLst>
            </a:prstGeom>
            <a:solidFill>
              <a:srgbClr val="5B9F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ed Rectangle 5">
              <a:extLst>
                <a:ext uri="{FF2B5EF4-FFF2-40B4-BE49-F238E27FC236}">
                  <a16:creationId xmlns:a16="http://schemas.microsoft.com/office/drawing/2014/main" id="{FB861E2F-DEF5-6A8F-B20D-CC068F398B47}"/>
                </a:ext>
              </a:extLst>
            </p:cNvPr>
            <p:cNvSpPr/>
            <p:nvPr/>
          </p:nvSpPr>
          <p:spPr>
            <a:xfrm>
              <a:off x="476397" y="3451799"/>
              <a:ext cx="2103239" cy="1287958"/>
            </a:xfrm>
            <a:prstGeom prst="roundRect">
              <a:avLst>
                <a:gd name="adj" fmla="val 11832"/>
              </a:avLst>
            </a:prstGeom>
            <a:solidFill>
              <a:srgbClr val="1A50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ounded Rectangle 6">
              <a:extLst>
                <a:ext uri="{FF2B5EF4-FFF2-40B4-BE49-F238E27FC236}">
                  <a16:creationId xmlns:a16="http://schemas.microsoft.com/office/drawing/2014/main" id="{225D8955-22C5-CBE5-BE7D-96F159E2C4C8}"/>
                </a:ext>
              </a:extLst>
            </p:cNvPr>
            <p:cNvSpPr/>
            <p:nvPr/>
          </p:nvSpPr>
          <p:spPr>
            <a:xfrm>
              <a:off x="2762397" y="3451799"/>
              <a:ext cx="2103239" cy="1287958"/>
            </a:xfrm>
            <a:prstGeom prst="roundRect">
              <a:avLst>
                <a:gd name="adj" fmla="val 11832"/>
              </a:avLst>
            </a:prstGeom>
            <a:solidFill>
              <a:srgbClr val="1A50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B1A6C09-9F26-866C-6810-38EA5878CA90}"/>
                </a:ext>
              </a:extLst>
            </p:cNvPr>
            <p:cNvSpPr txBox="1"/>
            <p:nvPr/>
          </p:nvSpPr>
          <p:spPr>
            <a:xfrm>
              <a:off x="853504" y="1501358"/>
              <a:ext cx="1348795" cy="23811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434" b="1" i="0">
                  <a:solidFill>
                    <a:srgbClr val="F28630"/>
                  </a:solidFill>
                  <a:latin typeface="Raleway"/>
                </a:rPr>
                <a:t>Transparencia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3EFC6AD-C427-DC04-82D6-D897906CE878}"/>
                </a:ext>
              </a:extLst>
            </p:cNvPr>
            <p:cNvSpPr txBox="1"/>
            <p:nvPr/>
          </p:nvSpPr>
          <p:spPr>
            <a:xfrm>
              <a:off x="803499" y="1825199"/>
              <a:ext cx="1448954" cy="3741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25" b="0" i="0">
                  <a:solidFill>
                    <a:srgbClr val="CCE2FF"/>
                  </a:solidFill>
                  <a:latin typeface="Raleway"/>
                </a:rPr>
                <a:t>Usuario siempre sabe que interactúa con IA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A66E61E-A71F-0F89-4DAB-0AF163105AD8}"/>
                </a:ext>
              </a:extLst>
            </p:cNvPr>
            <p:cNvSpPr txBox="1"/>
            <p:nvPr/>
          </p:nvSpPr>
          <p:spPr>
            <a:xfrm>
              <a:off x="3321608" y="1400008"/>
              <a:ext cx="984622" cy="23811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434" b="1" i="0">
                  <a:solidFill>
                    <a:srgbClr val="F28630"/>
                  </a:solidFill>
                  <a:latin typeface="Raleway"/>
                </a:rPr>
                <a:t>Seguridad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4FCBDD3-9827-F8C2-2E83-46DDB105056B}"/>
                </a:ext>
              </a:extLst>
            </p:cNvPr>
            <p:cNvSpPr txBox="1"/>
            <p:nvPr/>
          </p:nvSpPr>
          <p:spPr>
            <a:xfrm>
              <a:off x="3090484" y="1723850"/>
              <a:ext cx="1446870" cy="57684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25" b="0" i="0">
                  <a:solidFill>
                    <a:srgbClr val="CCE2FF"/>
                  </a:solidFill>
                  <a:latin typeface="Raleway"/>
                </a:rPr>
                <a:t>Protección de datos y prevención de usos indebidos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4B46B74-1E15-C181-1CA2-0A59B301EB2E}"/>
                </a:ext>
              </a:extLst>
            </p:cNvPr>
            <p:cNvSpPr txBox="1"/>
            <p:nvPr/>
          </p:nvSpPr>
          <p:spPr>
            <a:xfrm>
              <a:off x="1828602" y="2840331"/>
              <a:ext cx="1684543" cy="27621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655" b="1" i="0">
                  <a:solidFill>
                    <a:srgbClr val="0B1A2D"/>
                  </a:solidFill>
                  <a:latin typeface="Raleway"/>
                </a:rPr>
                <a:t>IA Responsable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9F3E8F5-E453-5D8D-1E89-B1C27CA41632}"/>
                </a:ext>
              </a:extLst>
            </p:cNvPr>
            <p:cNvSpPr txBox="1"/>
            <p:nvPr/>
          </p:nvSpPr>
          <p:spPr>
            <a:xfrm>
              <a:off x="1069746" y="3634458"/>
              <a:ext cx="916460" cy="23811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434" b="1" i="0">
                  <a:solidFill>
                    <a:srgbClr val="F28630"/>
                  </a:solidFill>
                  <a:latin typeface="Raleway"/>
                </a:rPr>
                <a:t>Identidad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9DB3F99-63AB-460E-6554-92F97D7939AE}"/>
                </a:ext>
              </a:extLst>
            </p:cNvPr>
            <p:cNvSpPr txBox="1"/>
            <p:nvPr/>
          </p:nvSpPr>
          <p:spPr>
            <a:xfrm>
              <a:off x="810196" y="3958300"/>
              <a:ext cx="1435560" cy="57684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25" b="0" i="0">
                  <a:solidFill>
                    <a:srgbClr val="CCE2FF"/>
                  </a:solidFill>
                  <a:latin typeface="Raleway"/>
                </a:rPr>
                <a:t>Valores y límites del agente alineados con organización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9A18DCF-FF86-E37F-E861-3F6C75DC55D6}"/>
                </a:ext>
              </a:extLst>
            </p:cNvPr>
            <p:cNvSpPr txBox="1"/>
            <p:nvPr/>
          </p:nvSpPr>
          <p:spPr>
            <a:xfrm>
              <a:off x="2953119" y="3735807"/>
              <a:ext cx="1721600" cy="23811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434" b="1" i="0">
                  <a:solidFill>
                    <a:srgbClr val="F28630"/>
                  </a:solidFill>
                  <a:latin typeface="Raleway"/>
                </a:rPr>
                <a:t>Escalado Humano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EF57CC1-16D2-07D1-245C-7B341A043910}"/>
                </a:ext>
              </a:extLst>
            </p:cNvPr>
            <p:cNvSpPr txBox="1"/>
            <p:nvPr/>
          </p:nvSpPr>
          <p:spPr>
            <a:xfrm>
              <a:off x="3082894" y="4059649"/>
              <a:ext cx="1462050" cy="3741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25" b="0" i="0">
                  <a:solidFill>
                    <a:srgbClr val="CCE2FF"/>
                  </a:solidFill>
                  <a:latin typeface="Raleway"/>
                </a:rPr>
                <a:t>Transferir a persona cuando sea necesario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B1A0A9EA-5A85-703E-C8C1-D2504C3258B3}"/>
              </a:ext>
            </a:extLst>
          </p:cNvPr>
          <p:cNvSpPr txBox="1"/>
          <p:nvPr/>
        </p:nvSpPr>
        <p:spPr>
          <a:xfrm>
            <a:off x="4244581" y="1371599"/>
            <a:ext cx="4579379" cy="31547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67576" indent="-167576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sz="1200" b="0" i="0" dirty="0" err="1">
                <a:solidFill>
                  <a:srgbClr val="E8E8E8"/>
                </a:solidFill>
                <a:latin typeface="Raleway"/>
              </a:rPr>
              <a:t>Declarar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claramente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la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naturaleza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de IA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desde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el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primer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segundo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evita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confusión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y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cumple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regulaciones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en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sectores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como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salud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y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finanzas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donde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la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transparencia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es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obligatoria</a:t>
            </a:r>
            <a:endParaRPr sz="1200" b="0" i="0" dirty="0">
              <a:solidFill>
                <a:srgbClr val="E8E8E8"/>
              </a:solidFill>
              <a:latin typeface="Raleway"/>
            </a:endParaRPr>
          </a:p>
          <a:p>
            <a:pPr marL="167576" indent="-167576" algn="l">
              <a:spcBef>
                <a:spcPts val="959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sz="1200" b="0" i="0" dirty="0">
                <a:solidFill>
                  <a:srgbClr val="E8E8E8"/>
                </a:solidFill>
                <a:latin typeface="Raleway"/>
              </a:rPr>
              <a:t>Azure Content Safety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proporciona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protección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multicapa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automática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contra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contenido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inapropiado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en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entradas y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salidas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, con logs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completos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para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auditoría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y compliance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empresarial</a:t>
            </a:r>
            <a:endParaRPr sz="1200" b="0" i="0" dirty="0">
              <a:solidFill>
                <a:srgbClr val="E8E8E8"/>
              </a:solidFill>
              <a:latin typeface="Raleway"/>
            </a:endParaRPr>
          </a:p>
          <a:p>
            <a:pPr marL="167576" indent="-167576" algn="l">
              <a:spcBef>
                <a:spcPts val="959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sz="1200" b="0" i="0" dirty="0">
                <a:solidFill>
                  <a:srgbClr val="E8E8E8"/>
                </a:solidFill>
                <a:latin typeface="Raleway"/>
              </a:rPr>
              <a:t>La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personalidad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y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límites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del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agente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deben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documentarse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explícitamente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y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alinearse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con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valores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corporativos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,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evitando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comportamientos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que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puedan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generar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problemas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legales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o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reputacionales</a:t>
            </a:r>
            <a:endParaRPr sz="1200" b="0" i="0" dirty="0">
              <a:solidFill>
                <a:srgbClr val="E8E8E8"/>
              </a:solidFill>
              <a:latin typeface="Raleway"/>
            </a:endParaRPr>
          </a:p>
          <a:p>
            <a:pPr marL="167576" indent="-167576" algn="l">
              <a:spcBef>
                <a:spcPts val="959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sz="1200" b="0" i="0" dirty="0" err="1">
                <a:solidFill>
                  <a:srgbClr val="E8E8E8"/>
                </a:solidFill>
                <a:latin typeface="Raleway"/>
              </a:rPr>
              <a:t>Detectar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automáticamente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frustración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del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usuario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,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preguntas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fuera del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alcance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del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agente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o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situaciones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éticamente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complejas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para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escalar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a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humano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preserva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satisfacción</a:t>
            </a:r>
            <a:r>
              <a:rPr sz="1200" b="0" i="0" dirty="0">
                <a:solidFill>
                  <a:srgbClr val="E8E8E8"/>
                </a:solidFill>
                <a:latin typeface="Raleway"/>
              </a:rPr>
              <a:t> y protege a la </a:t>
            </a:r>
            <a:r>
              <a:rPr sz="1200" b="0" i="0" dirty="0" err="1">
                <a:solidFill>
                  <a:srgbClr val="E8E8E8"/>
                </a:solidFill>
                <a:latin typeface="Raleway"/>
              </a:rPr>
              <a:t>organización</a:t>
            </a:r>
            <a:endParaRPr sz="1200" b="0" i="0" dirty="0">
              <a:solidFill>
                <a:srgbClr val="E8E8E8"/>
              </a:solidFill>
              <a:latin typeface="Raleway"/>
            </a:endParaRPr>
          </a:p>
        </p:txBody>
      </p:sp>
    </p:spTree>
    <p:extLst>
      <p:ext uri="{BB962C8B-B14F-4D97-AF65-F5344CB8AC3E}">
        <p14:creationId xmlns:p14="http://schemas.microsoft.com/office/powerpoint/2010/main" val="1548757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217FD9-1251-229A-26C6-1BC95D5C3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C6B1E49-E7A0-0D15-65D5-84449DF275FB}"/>
              </a:ext>
            </a:extLst>
          </p:cNvPr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EDCED44-27F0-A160-1B8D-88303F786EDF}"/>
              </a:ext>
            </a:extLst>
          </p:cNvPr>
          <p:cNvSpPr/>
          <p:nvPr/>
        </p:nvSpPr>
        <p:spPr>
          <a:xfrm>
            <a:off x="54864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</a:t>
            </a:r>
            <a:r>
              <a:rPr lang="es-ES" sz="3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Takeaways</a:t>
            </a:r>
            <a:r>
              <a:rPr lang="es-E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para Decisores</a:t>
            </a:r>
          </a:p>
        </p:txBody>
      </p:sp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376C3A07-4E12-6DFA-56E3-904E38F2AD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389120"/>
            <a:ext cx="548640" cy="548640"/>
          </a:xfrm>
          <a:prstGeom prst="rect">
            <a:avLst/>
          </a:prstGeom>
        </p:spPr>
      </p:pic>
      <p:sp>
        <p:nvSpPr>
          <p:cNvPr id="4" name="Rounded Rectangle 1">
            <a:extLst>
              <a:ext uri="{FF2B5EF4-FFF2-40B4-BE49-F238E27FC236}">
                <a16:creationId xmlns:a16="http://schemas.microsoft.com/office/drawing/2014/main" id="{5BFF950F-615F-B344-507C-2E337A93758D}"/>
              </a:ext>
            </a:extLst>
          </p:cNvPr>
          <p:cNvSpPr/>
          <p:nvPr/>
        </p:nvSpPr>
        <p:spPr>
          <a:xfrm>
            <a:off x="304800" y="1018139"/>
            <a:ext cx="2795287" cy="818206"/>
          </a:xfrm>
          <a:prstGeom prst="roundRect">
            <a:avLst>
              <a:gd name="adj" fmla="val 14885"/>
            </a:avLst>
          </a:prstGeom>
          <a:solidFill>
            <a:srgbClr val="0E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44A2E2B7-F93A-16A2-D08B-EDD966F5211C}"/>
              </a:ext>
            </a:extLst>
          </p:cNvPr>
          <p:cNvSpPr/>
          <p:nvPr/>
        </p:nvSpPr>
        <p:spPr>
          <a:xfrm>
            <a:off x="3213408" y="1018139"/>
            <a:ext cx="2795287" cy="818206"/>
          </a:xfrm>
          <a:prstGeom prst="roundRect">
            <a:avLst>
              <a:gd name="adj" fmla="val 14885"/>
            </a:avLst>
          </a:prstGeom>
          <a:solidFill>
            <a:srgbClr val="0E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979A0471-818A-12D5-D205-256EAA54199C}"/>
              </a:ext>
            </a:extLst>
          </p:cNvPr>
          <p:cNvSpPr/>
          <p:nvPr/>
        </p:nvSpPr>
        <p:spPr>
          <a:xfrm>
            <a:off x="6122018" y="1018139"/>
            <a:ext cx="2795287" cy="818206"/>
          </a:xfrm>
          <a:prstGeom prst="roundRect">
            <a:avLst>
              <a:gd name="adj" fmla="val 14885"/>
            </a:avLst>
          </a:prstGeom>
          <a:solidFill>
            <a:srgbClr val="0E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19DF97-9135-2FD7-755C-088B97B8290D}"/>
              </a:ext>
            </a:extLst>
          </p:cNvPr>
          <p:cNvSpPr txBox="1"/>
          <p:nvPr/>
        </p:nvSpPr>
        <p:spPr>
          <a:xfrm>
            <a:off x="686940" y="1148949"/>
            <a:ext cx="2031005" cy="3654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375" b="1" i="0" dirty="0">
                <a:solidFill>
                  <a:srgbClr val="F28630"/>
                </a:solidFill>
                <a:latin typeface="Raleway"/>
              </a:rPr>
              <a:t>40-60%</a:t>
            </a:r>
            <a:r>
              <a:rPr lang="es-ES" sz="2375" b="1" i="0" dirty="0">
                <a:solidFill>
                  <a:srgbClr val="F28630"/>
                </a:solidFill>
                <a:latin typeface="Raleway"/>
              </a:rPr>
              <a:t> &lt; TCO</a:t>
            </a:r>
            <a:endParaRPr sz="2375" b="1" i="0" dirty="0">
              <a:solidFill>
                <a:srgbClr val="F28630"/>
              </a:solidFill>
              <a:latin typeface="Raleway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F74075-9961-5252-12E8-05F5B5CF87BA}"/>
              </a:ext>
            </a:extLst>
          </p:cNvPr>
          <p:cNvSpPr txBox="1"/>
          <p:nvPr/>
        </p:nvSpPr>
        <p:spPr>
          <a:xfrm>
            <a:off x="440687" y="1527415"/>
            <a:ext cx="2545569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 i="0" dirty="0" err="1">
                <a:solidFill>
                  <a:srgbClr val="CCE2FF"/>
                </a:solidFill>
                <a:latin typeface="Raleway"/>
              </a:rPr>
              <a:t>Reducción</a:t>
            </a:r>
            <a:r>
              <a:rPr sz="1300" b="1" i="0" dirty="0">
                <a:solidFill>
                  <a:srgbClr val="CCE2FF"/>
                </a:solidFill>
                <a:latin typeface="Raleway"/>
              </a:rPr>
              <a:t> </a:t>
            </a:r>
            <a:r>
              <a:rPr sz="1300" b="1" i="0" dirty="0" err="1">
                <a:solidFill>
                  <a:srgbClr val="CCE2FF"/>
                </a:solidFill>
                <a:latin typeface="Raleway"/>
              </a:rPr>
              <a:t>en</a:t>
            </a:r>
            <a:r>
              <a:rPr sz="1300" b="1" i="0" dirty="0">
                <a:solidFill>
                  <a:srgbClr val="CCE2FF"/>
                </a:solidFill>
                <a:latin typeface="Raleway"/>
              </a:rPr>
              <a:t> </a:t>
            </a:r>
            <a:r>
              <a:rPr sz="1300" b="1" i="0" dirty="0" err="1">
                <a:solidFill>
                  <a:srgbClr val="CCE2FF"/>
                </a:solidFill>
                <a:latin typeface="Raleway"/>
              </a:rPr>
              <a:t>costes</a:t>
            </a:r>
            <a:r>
              <a:rPr sz="1300" b="1" i="0" dirty="0">
                <a:solidFill>
                  <a:srgbClr val="CCE2FF"/>
                </a:solidFill>
                <a:latin typeface="Raleway"/>
              </a:rPr>
              <a:t> </a:t>
            </a:r>
            <a:r>
              <a:rPr sz="1300" b="1" i="0" dirty="0" err="1">
                <a:solidFill>
                  <a:srgbClr val="CCE2FF"/>
                </a:solidFill>
                <a:latin typeface="Raleway"/>
              </a:rPr>
              <a:t>operativos</a:t>
            </a:r>
            <a:endParaRPr sz="1300" b="1" i="0" dirty="0">
              <a:solidFill>
                <a:srgbClr val="CCE2FF"/>
              </a:solidFill>
              <a:latin typeface="Raleway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6E6063-132C-5EB4-5AA7-BF8D795516F6}"/>
              </a:ext>
            </a:extLst>
          </p:cNvPr>
          <p:cNvSpPr txBox="1"/>
          <p:nvPr/>
        </p:nvSpPr>
        <p:spPr>
          <a:xfrm>
            <a:off x="3446692" y="1145207"/>
            <a:ext cx="2333972" cy="3654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s-ES" sz="2375" b="1" i="0" dirty="0">
                <a:solidFill>
                  <a:srgbClr val="F28630"/>
                </a:solidFill>
                <a:latin typeface="Raleway"/>
              </a:rPr>
              <a:t>Time-to-</a:t>
            </a:r>
            <a:r>
              <a:rPr lang="es-ES" sz="2375" b="1" i="0" dirty="0" err="1">
                <a:solidFill>
                  <a:srgbClr val="F28630"/>
                </a:solidFill>
                <a:latin typeface="Raleway"/>
              </a:rPr>
              <a:t>market</a:t>
            </a:r>
            <a:endParaRPr sz="2375" b="1" i="0" dirty="0">
              <a:solidFill>
                <a:srgbClr val="F28630"/>
              </a:solidFill>
              <a:latin typeface="Raleway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22310F-D0AE-1E8F-A7E3-C57F249F338C}"/>
              </a:ext>
            </a:extLst>
          </p:cNvPr>
          <p:cNvSpPr txBox="1"/>
          <p:nvPr/>
        </p:nvSpPr>
        <p:spPr>
          <a:xfrm>
            <a:off x="3349223" y="1527415"/>
            <a:ext cx="2595262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CCE2FF"/>
                </a:solidFill>
                <a:latin typeface="Raleway"/>
              </a:rPr>
              <a:t>Desarrollo</a:t>
            </a:r>
            <a:r>
              <a:rPr lang="es-ES" sz="1300" b="1" i="0" dirty="0">
                <a:solidFill>
                  <a:srgbClr val="CCE2FF"/>
                </a:solidFill>
                <a:latin typeface="Raleway"/>
              </a:rPr>
              <a:t> en sem</a:t>
            </a:r>
            <a:r>
              <a:rPr lang="es-ES" sz="1300" b="1" dirty="0">
                <a:solidFill>
                  <a:srgbClr val="CCE2FF"/>
                </a:solidFill>
                <a:latin typeface="Raleway"/>
              </a:rPr>
              <a:t>anas</a:t>
            </a:r>
            <a:r>
              <a:rPr sz="1300" b="1" i="0" dirty="0">
                <a:solidFill>
                  <a:srgbClr val="CCE2FF"/>
                </a:solidFill>
                <a:latin typeface="Raleway"/>
              </a:rPr>
              <a:t> vs meses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46CDDB-023A-9C26-CD68-5E3D60C81098}"/>
              </a:ext>
            </a:extLst>
          </p:cNvPr>
          <p:cNvSpPr txBox="1"/>
          <p:nvPr/>
        </p:nvSpPr>
        <p:spPr>
          <a:xfrm>
            <a:off x="6853613" y="1148949"/>
            <a:ext cx="1332096" cy="3654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s-ES" sz="2375" b="1" i="0" dirty="0">
                <a:solidFill>
                  <a:srgbClr val="F28630"/>
                </a:solidFill>
                <a:latin typeface="Raleway"/>
              </a:rPr>
              <a:t>Escalado</a:t>
            </a:r>
            <a:endParaRPr sz="2375" b="1" i="0" dirty="0">
              <a:solidFill>
                <a:srgbClr val="F28630"/>
              </a:solidFill>
              <a:latin typeface="Raleway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941326-FF83-4DC3-D90B-6F1B53A2B930}"/>
              </a:ext>
            </a:extLst>
          </p:cNvPr>
          <p:cNvSpPr txBox="1"/>
          <p:nvPr/>
        </p:nvSpPr>
        <p:spPr>
          <a:xfrm>
            <a:off x="6192135" y="1546219"/>
            <a:ext cx="3018455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1150" b="1" i="0" dirty="0">
                <a:solidFill>
                  <a:srgbClr val="CCE2FF"/>
                </a:solidFill>
                <a:latin typeface="Raleway"/>
              </a:rPr>
              <a:t>Miles de </a:t>
            </a:r>
            <a:r>
              <a:rPr sz="1150" b="1" i="0" dirty="0" err="1">
                <a:solidFill>
                  <a:srgbClr val="CCE2FF"/>
                </a:solidFill>
                <a:latin typeface="Raleway"/>
              </a:rPr>
              <a:t>Sesiones</a:t>
            </a:r>
            <a:r>
              <a:rPr sz="1150" b="1" i="0" dirty="0">
                <a:solidFill>
                  <a:srgbClr val="CCE2FF"/>
                </a:solidFill>
                <a:latin typeface="Raleway"/>
              </a:rPr>
              <a:t> sin re-</a:t>
            </a:r>
            <a:r>
              <a:rPr sz="1150" b="1" i="0" dirty="0" err="1">
                <a:solidFill>
                  <a:srgbClr val="CCE2FF"/>
                </a:solidFill>
                <a:latin typeface="Raleway"/>
              </a:rPr>
              <a:t>arquitecturar</a:t>
            </a:r>
            <a:endParaRPr sz="1150" b="1" i="0" dirty="0">
              <a:solidFill>
                <a:srgbClr val="CCE2FF"/>
              </a:solidFill>
              <a:latin typeface="Raleway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62266D-A251-E4F0-87ED-101C3462BEA4}"/>
              </a:ext>
            </a:extLst>
          </p:cNvPr>
          <p:cNvSpPr txBox="1"/>
          <p:nvPr/>
        </p:nvSpPr>
        <p:spPr>
          <a:xfrm>
            <a:off x="287960" y="2054249"/>
            <a:ext cx="8717787" cy="25058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3265" indent="-213265" algn="l"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sz="1295" b="0" i="0" dirty="0">
                <a:solidFill>
                  <a:srgbClr val="E8E8E8"/>
                </a:solidFill>
                <a:latin typeface="Raleway"/>
              </a:rPr>
              <a:t>El ROI se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materializa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rápidamente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en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operaciones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con alto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volumen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: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atención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al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cliente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,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soporte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IT y onboarding son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candidatos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ideales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con payback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típico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de 6-12 meses</a:t>
            </a:r>
          </a:p>
          <a:p>
            <a:pPr marL="213265" indent="-213265" algn="l">
              <a:spcBef>
                <a:spcPts val="959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sz="1295" b="0" i="0" dirty="0">
                <a:solidFill>
                  <a:srgbClr val="E8E8E8"/>
                </a:solidFill>
                <a:latin typeface="Raleway"/>
              </a:rPr>
              <a:t>Usar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servicios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gestionados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como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Azure AI Foundry reduce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drasticamente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time-to-market y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coste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de ownership al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eliminar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necesidad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de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equipos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especializados</a:t>
            </a:r>
            <a:r>
              <a:rPr sz="917" b="0" i="0" dirty="0">
                <a:solidFill>
                  <a:srgbClr val="E4863B"/>
                </a:solidFill>
                <a:latin typeface="Raleway"/>
              </a:rPr>
              <a:t> </a:t>
            </a:r>
            <a:r>
              <a:rPr sz="917" b="0" i="0" dirty="0">
                <a:solidFill>
                  <a:srgbClr val="E4863B"/>
                </a:solidFill>
                <a:latin typeface="Raleway"/>
                <a:hlinkClick r:id="rId5" tooltip="How to build a voice agent - Foundry Tools | Microsof..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  <a:p>
            <a:pPr marL="213265" indent="-213265" algn="l">
              <a:spcBef>
                <a:spcPts val="959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sz="1295" b="0" i="0" dirty="0">
                <a:solidFill>
                  <a:srgbClr val="E8E8E8"/>
                </a:solidFill>
                <a:latin typeface="Raleway"/>
              </a:rPr>
              <a:t>La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arquitectura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modular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permite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comenzar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con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caso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de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uso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limitado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y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escalar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progresivamente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: no es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necesario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construir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solución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completa antes de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validar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valor</a:t>
            </a:r>
          </a:p>
          <a:p>
            <a:pPr marL="213265" indent="-213265" algn="l">
              <a:spcBef>
                <a:spcPts val="959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sz="1295" b="0" i="0" dirty="0">
                <a:solidFill>
                  <a:srgbClr val="E8E8E8"/>
                </a:solidFill>
                <a:latin typeface="Raleway"/>
              </a:rPr>
              <a:t>La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inversión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en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observabilidad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y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métricas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desde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el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inicio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es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crítica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: sin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datos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concretos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es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imposible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optimizar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y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justificar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inversiones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futuras</a:t>
            </a:r>
            <a:r>
              <a:rPr sz="917" b="0" i="0" dirty="0">
                <a:solidFill>
                  <a:srgbClr val="E4863B"/>
                </a:solidFill>
                <a:latin typeface="Raleway"/>
              </a:rPr>
              <a:t> </a:t>
            </a:r>
            <a:r>
              <a:rPr sz="917" b="0" i="0" dirty="0">
                <a:solidFill>
                  <a:srgbClr val="E4863B"/>
                </a:solidFill>
                <a:latin typeface="Raleway"/>
                <a:hlinkClick r:id="rId6" tooltip="Measuring Agents in Production - arXiv.or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[6]</a:t>
            </a:r>
          </a:p>
          <a:p>
            <a:pPr marL="213265" indent="-213265" algn="l">
              <a:spcBef>
                <a:spcPts val="959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sz="1295" b="0" i="0" dirty="0">
                <a:solidFill>
                  <a:srgbClr val="E8E8E8"/>
                </a:solidFill>
                <a:latin typeface="Raleway"/>
              </a:rPr>
              <a:t>El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diseño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responsable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no es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coste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adicional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sino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mitigación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de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riesgo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: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problemas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de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transparencia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pueden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generar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daño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reputacional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que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supera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ampliamente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el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ahorro</a:t>
            </a:r>
            <a:r>
              <a:rPr sz="1295" b="0" i="0" dirty="0">
                <a:solidFill>
                  <a:srgbClr val="E8E8E8"/>
                </a:solidFill>
                <a:latin typeface="Raleway"/>
              </a:rPr>
              <a:t> </a:t>
            </a:r>
            <a:r>
              <a:rPr sz="1295" b="0" i="0" dirty="0" err="1">
                <a:solidFill>
                  <a:srgbClr val="E8E8E8"/>
                </a:solidFill>
                <a:latin typeface="Raleway"/>
              </a:rPr>
              <a:t>operativo</a:t>
            </a:r>
            <a:endParaRPr sz="1295" b="0" i="0" dirty="0">
              <a:solidFill>
                <a:srgbClr val="E8E8E8"/>
              </a:solidFill>
              <a:latin typeface="Raleway"/>
            </a:endParaRPr>
          </a:p>
        </p:txBody>
      </p:sp>
    </p:spTree>
    <p:extLst>
      <p:ext uri="{BB962C8B-B14F-4D97-AF65-F5344CB8AC3E}">
        <p14:creationId xmlns:p14="http://schemas.microsoft.com/office/powerpoint/2010/main" val="2775381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discuss what we've covered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45720"/>
            <a:ext cx="2468880" cy="2468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presenter@email.com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linkedin.com/in/presenter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the Speakers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554480"/>
          </a:xfrm>
          <a:prstGeom prst="rect">
            <a:avLst/>
          </a:prstGeom>
          <a:solidFill>
            <a:srgbClr val="160D40"/>
          </a:solidFill>
          <a:ln/>
          <a:effectLst>
            <a:outerShdw blurRad="508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5720" cy="1554480"/>
          </a:xfrm>
          <a:prstGeom prst="rect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188720"/>
            <a:ext cx="1280160" cy="1280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Speaker Name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28600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Title  |  Company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286000" y="19659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bio about the speaker. Background, expertise, and what they'll be covering in this session.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0" y="1280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@handle  </a:t>
            </a:r>
            <a:r>
              <a:rPr lang="en-US" sz="11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linkedin.com/in/speaker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834640"/>
            <a:ext cx="8229600" cy="1554480"/>
          </a:xfrm>
          <a:prstGeom prst="rect">
            <a:avLst/>
          </a:prstGeom>
          <a:solidFill>
            <a:srgbClr val="160D40"/>
          </a:solidFill>
          <a:ln/>
          <a:effectLst>
            <a:outerShdw blurRad="508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457200" y="2834640"/>
            <a:ext cx="45720" cy="155448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926080"/>
            <a:ext cx="1280160" cy="12801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28600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Speaker Name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2286000" y="3337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Title  |  Company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286000" y="37033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bio about the second speaker. Their expertise, background, and role in this session.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943600" y="3017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@handle  </a:t>
            </a:r>
            <a:r>
              <a:rPr lang="en-US" sz="11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linkedin.com/in/speaker2</a:t>
            </a:r>
            <a:endParaRPr lang="en-US" sz="11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438912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274320"/>
            <a:ext cx="2194560" cy="2194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606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Speaker Name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Title  |  Company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3840480" y="3611880"/>
            <a:ext cx="1463040" cy="36576"/>
          </a:xfrm>
          <a:prstGeom prst="rect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1371600" y="3794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bio about the speaker. Their background, areas of expertise, published work, and what they'll be sharing in today's session. This layout works well for keynote speakers or single-presenter workshops.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4617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@handle</a:t>
            </a:r>
            <a:r>
              <a:rPr lang="en-US" sz="12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linkedin.com/in/speaker    |    </a:t>
            </a:r>
            <a:r>
              <a:rPr lang="en-US" sz="1200" dirty="0">
                <a:solidFill>
                  <a:srgbClr val="FFB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speaker.dev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438912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Title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7772400" cy="3474720"/>
          </a:xfrm>
          <a:prstGeom prst="rect">
            <a:avLst/>
          </a:prstGeom>
          <a:solidFill>
            <a:srgbClr val="160D40">
              <a:alpha val="6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7132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key point about this topic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important concept to cover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idea with supporting details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point for discussion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38912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Column Layout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383280"/>
          </a:xfrm>
          <a:prstGeom prst="rect">
            <a:avLst/>
          </a:prstGeom>
          <a:solidFill>
            <a:srgbClr val="160D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45720"/>
          </a:xfrm>
          <a:prstGeom prst="rect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Column One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one with explanation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two with details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three and context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383280"/>
          </a:xfrm>
          <a:prstGeom prst="rect">
            <a:avLst/>
          </a:prstGeom>
          <a:solidFill>
            <a:srgbClr val="160D40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4572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029200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Column Two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one with explanation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two with details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three and context</a:t>
            </a:r>
            <a:endParaRPr lang="en-US" sz="15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38912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FFB030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is best when it brings people together.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0" y="3108960"/>
            <a:ext cx="1828800" cy="36576"/>
          </a:xfrm>
          <a:prstGeom prst="rect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097280" y="32918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Author Name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38912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 / Timeline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914400" y="2103120"/>
            <a:ext cx="7315200" cy="0"/>
          </a:xfrm>
          <a:prstGeom prst="line">
            <a:avLst/>
          </a:prstGeom>
          <a:noFill/>
          <a:ln w="25400">
            <a:solidFill>
              <a:srgbClr val="4A15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051560" y="1874520"/>
            <a:ext cx="457200" cy="457200"/>
          </a:xfrm>
          <a:prstGeom prst="ellipse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0515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1920240" cy="1645920"/>
          </a:xfrm>
          <a:prstGeom prst="rect">
            <a:avLst/>
          </a:prstGeom>
          <a:solidFill>
            <a:srgbClr val="160D40"/>
          </a:solidFill>
          <a:ln/>
          <a:effectLst>
            <a:outerShdw blurRad="508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1920240" cy="36576"/>
          </a:xfrm>
          <a:prstGeom prst="rect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B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problem space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1874520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2004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06040" y="2560320"/>
            <a:ext cx="1920240" cy="1645920"/>
          </a:xfrm>
          <a:prstGeom prst="rect">
            <a:avLst/>
          </a:prstGeom>
          <a:solidFill>
            <a:srgbClr val="160D40"/>
          </a:solidFill>
          <a:ln/>
          <a:effectLst>
            <a:outerShdw blurRad="508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2606040" y="2560320"/>
            <a:ext cx="1920240" cy="36576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2788920" y="2743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788920" y="3200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solution approach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49240" y="1874520"/>
            <a:ext cx="457200" cy="457200"/>
          </a:xfrm>
          <a:prstGeom prst="ellipse">
            <a:avLst/>
          </a:prstGeom>
          <a:solidFill>
            <a:srgbClr val="FF2D7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349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2560320"/>
            <a:ext cx="1920240" cy="1645920"/>
          </a:xfrm>
          <a:prstGeom prst="rect">
            <a:avLst/>
          </a:prstGeom>
          <a:solidFill>
            <a:srgbClr val="160D40"/>
          </a:solidFill>
          <a:ln/>
          <a:effectLst>
            <a:outerShdw blurRad="508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4754880" y="2560320"/>
            <a:ext cx="1920240" cy="36576"/>
          </a:xfrm>
          <a:prstGeom prst="rect">
            <a:avLst/>
          </a:prstGeom>
          <a:solidFill>
            <a:srgbClr val="FF2D7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4937760" y="2743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2D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937760" y="3200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and iterate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98080" y="1874520"/>
            <a:ext cx="457200" cy="457200"/>
          </a:xfrm>
          <a:prstGeom prst="ellipse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74980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0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903720" y="2560320"/>
            <a:ext cx="1920240" cy="1645920"/>
          </a:xfrm>
          <a:prstGeom prst="rect">
            <a:avLst/>
          </a:prstGeom>
          <a:solidFill>
            <a:srgbClr val="160D40"/>
          </a:solidFill>
          <a:ln/>
          <a:effectLst>
            <a:outerShdw blurRad="508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6903720" y="2560320"/>
            <a:ext cx="1920240" cy="36576"/>
          </a:xfrm>
          <a:prstGeom prst="rect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7086600" y="2743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B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086600" y="3200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and monitor results</a:t>
            </a:r>
            <a:endParaRPr lang="en-US" sz="130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38912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Comparison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9080" y="2286000"/>
            <a:ext cx="1005840" cy="1005840"/>
          </a:xfrm>
          <a:prstGeom prst="ellipse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069080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0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474720" cy="3383280"/>
          </a:xfrm>
          <a:prstGeom prst="rect">
            <a:avLst/>
          </a:prstGeom>
          <a:solidFill>
            <a:srgbClr val="160D40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474720" cy="4572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one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two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three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212080" y="1097280"/>
            <a:ext cx="3474720" cy="3383280"/>
          </a:xfrm>
          <a:prstGeom prst="rect">
            <a:avLst/>
          </a:prstGeom>
          <a:solidFill>
            <a:srgbClr val="160D40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212080" y="1097280"/>
            <a:ext cx="3474720" cy="45720"/>
          </a:xfrm>
          <a:prstGeom prst="rect">
            <a:avLst/>
          </a:prstGeom>
          <a:solidFill>
            <a:srgbClr val="FF2D7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486400" y="1325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2D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0" y="192024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one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two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three</a:t>
            </a:r>
            <a:endParaRPr lang="en-US" sz="15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38912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3108960"/>
          </a:xfrm>
          <a:prstGeom prst="rect">
            <a:avLst/>
          </a:prstGeom>
          <a:solidFill>
            <a:srgbClr val="160D40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45720"/>
          </a:xfrm>
          <a:prstGeom prst="rect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1280160" y="1463040"/>
            <a:ext cx="1005840" cy="1005840"/>
          </a:xfrm>
          <a:prstGeom prst="ellipse">
            <a:avLst/>
          </a:prstGeom>
          <a:solidFill>
            <a:srgbClr val="FFB030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280160" y="1463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Lightning-fast performance with optimized processing pipelines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1188720"/>
            <a:ext cx="2651760" cy="3108960"/>
          </a:xfrm>
          <a:prstGeom prst="rect">
            <a:avLst/>
          </a:prstGeom>
          <a:solidFill>
            <a:srgbClr val="160D40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337560" y="1188720"/>
            <a:ext cx="2651760" cy="4572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4160520" y="1463040"/>
            <a:ext cx="1005840" cy="1005840"/>
          </a:xfrm>
          <a:prstGeom prst="ellipse">
            <a:avLst/>
          </a:prstGeom>
          <a:solidFill>
            <a:srgbClr val="00D4FF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160520" y="1463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🔒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611880" y="2651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11880" y="31546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security with end-to-end encryption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651760" cy="3108960"/>
          </a:xfrm>
          <a:prstGeom prst="rect">
            <a:avLst/>
          </a:prstGeom>
          <a:solidFill>
            <a:srgbClr val="160D40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6217920" y="1188720"/>
            <a:ext cx="2651760" cy="45720"/>
          </a:xfrm>
          <a:prstGeom prst="rect">
            <a:avLst/>
          </a:prstGeom>
          <a:solidFill>
            <a:srgbClr val="FF2D7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7040880" y="1463040"/>
            <a:ext cx="1005840" cy="1005840"/>
          </a:xfrm>
          <a:prstGeom prst="ellipse">
            <a:avLst/>
          </a:prstGeom>
          <a:solidFill>
            <a:srgbClr val="FF2D78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7040880" y="1463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🌐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492240" y="2651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Scalable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92240" y="31546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seamlessly from prototype to production workloads</a:t>
            </a:r>
            <a:endParaRPr lang="en-US" sz="13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38912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3108960"/>
          </a:xfrm>
          <a:prstGeom prst="rect">
            <a:avLst/>
          </a:prstGeom>
          <a:solidFill>
            <a:srgbClr val="160D40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45720"/>
          </a:xfrm>
          <a:prstGeom prst="rect">
            <a:avLst/>
          </a:prstGeom>
          <a:solidFill>
            <a:srgbClr val="FFB03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B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Takeaway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the first key learning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188720"/>
            <a:ext cx="2651760" cy="3108960"/>
          </a:xfrm>
          <a:prstGeom prst="rect">
            <a:avLst/>
          </a:prstGeom>
          <a:solidFill>
            <a:srgbClr val="160D40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337560" y="1188720"/>
            <a:ext cx="2651760" cy="4572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611880" y="14630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611880" y="2103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Second Takeaway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11880" y="2606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the second key learning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651760" cy="3108960"/>
          </a:xfrm>
          <a:prstGeom prst="rect">
            <a:avLst/>
          </a:prstGeom>
          <a:solidFill>
            <a:srgbClr val="160D40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2651760" cy="45720"/>
          </a:xfrm>
          <a:prstGeom prst="rect">
            <a:avLst/>
          </a:prstGeom>
          <a:solidFill>
            <a:srgbClr val="FF2D7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492240" y="14630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2D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492240" y="2103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Third Takeaway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92240" y="2606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the third key learning</a:t>
            </a:r>
            <a:endParaRPr lang="en-US" sz="13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38912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648a795-f917-445b-ac9b-c440855a3e2a">
      <Terms xmlns="http://schemas.microsoft.com/office/infopath/2007/PartnerControls"/>
    </lcf76f155ced4ddcb4097134ff3c332f>
    <TaxCatchAll xmlns="0189d6ba-2b53-48c7-8abf-ba919503c9e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2ADB1979EE0F46B73738E5D765600A" ma:contentTypeVersion="11" ma:contentTypeDescription="Crear nuevo documento." ma:contentTypeScope="" ma:versionID="7b649d455d4d2e04fc36da88ed24536d">
  <xsd:schema xmlns:xsd="http://www.w3.org/2001/XMLSchema" xmlns:xs="http://www.w3.org/2001/XMLSchema" xmlns:p="http://schemas.microsoft.com/office/2006/metadata/properties" xmlns:ns2="e648a795-f917-445b-ac9b-c440855a3e2a" xmlns:ns3="0189d6ba-2b53-48c7-8abf-ba919503c9ee" targetNamespace="http://schemas.microsoft.com/office/2006/metadata/properties" ma:root="true" ma:fieldsID="80bb83e4353b92091311bb947fe55cab" ns2:_="" ns3:_="">
    <xsd:import namespace="e648a795-f917-445b-ac9b-c440855a3e2a"/>
    <xsd:import namespace="0189d6ba-2b53-48c7-8abf-ba919503c9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48a795-f917-445b-ac9b-c440855a3e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6c549c3d-f6bb-40ea-9da0-db86507033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89d6ba-2b53-48c7-8abf-ba919503c9ee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e697ceb5-f568-4ca1-9936-b443a934182e}" ma:internalName="TaxCatchAll" ma:showField="CatchAllData" ma:web="0189d6ba-2b53-48c7-8abf-ba919503c9e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6ABFA01-67DD-406D-ABA6-87791E35F15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260D1B-8B15-4569-B069-71755C2C07D3}">
  <ds:schemaRefs>
    <ds:schemaRef ds:uri="http://schemas.microsoft.com/office/2006/metadata/properties"/>
    <ds:schemaRef ds:uri="http://schemas.microsoft.com/office/infopath/2007/PartnerControls"/>
    <ds:schemaRef ds:uri="e648a795-f917-445b-ac9b-c440855a3e2a"/>
    <ds:schemaRef ds:uri="0189d6ba-2b53-48c7-8abf-ba919503c9ee"/>
  </ds:schemaRefs>
</ds:datastoreItem>
</file>

<file path=customXml/itemProps3.xml><?xml version="1.0" encoding="utf-8"?>
<ds:datastoreItem xmlns:ds="http://schemas.openxmlformats.org/officeDocument/2006/customXml" ds:itemID="{5E7F1330-5690-499B-9176-C49E1724FE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648a795-f917-445b-ac9b-c440855a3e2a"/>
    <ds:schemaRef ds:uri="0189d6ba-2b53-48c7-8abf-ba919503c9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d4def53c-905d-442a-ba22-72ae0f5bcf4f}" enabled="1" method="Standard" siteId="{6c637512-c417-4e78-9d62-b61258e4b61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1726</Words>
  <Application>Microsoft Office PowerPoint</Application>
  <PresentationFormat>On-screen Show (16:9)</PresentationFormat>
  <Paragraphs>279</Paragraphs>
  <Slides>27</Slides>
  <Notes>27</Notes>
  <HiddenSlides>9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Consolas</vt:lpstr>
      <vt:lpstr>Georgia</vt:lpstr>
      <vt:lpstr>Raleway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Talks - Workshop Template</dc:title>
  <dc:subject>PptxGenJS Presentation</dc:subject>
  <dc:creator>Agent Talks</dc:creator>
  <cp:lastModifiedBy>Luis Lopez</cp:lastModifiedBy>
  <cp:revision>10</cp:revision>
  <dcterms:created xsi:type="dcterms:W3CDTF">2026-04-11T10:27:46Z</dcterms:created>
  <dcterms:modified xsi:type="dcterms:W3CDTF">2026-05-14T19:07:00Z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0x0101008A2ADB1979EE0F46B73738E5D765600A</vt:lpwstr>
  </property>
</Properties>
</file>